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3"/>
  </p:notesMasterIdLst>
  <p:handoutMasterIdLst>
    <p:handoutMasterId r:id="rId34"/>
  </p:handoutMasterIdLst>
  <p:sldIdLst>
    <p:sldId id="256" r:id="rId2"/>
    <p:sldId id="257" r:id="rId3"/>
    <p:sldId id="258" r:id="rId4"/>
    <p:sldId id="261" r:id="rId5"/>
    <p:sldId id="301" r:id="rId6"/>
    <p:sldId id="302" r:id="rId7"/>
    <p:sldId id="303" r:id="rId8"/>
    <p:sldId id="325" r:id="rId9"/>
    <p:sldId id="318" r:id="rId10"/>
    <p:sldId id="319" r:id="rId11"/>
    <p:sldId id="304" r:id="rId12"/>
    <p:sldId id="305" r:id="rId13"/>
    <p:sldId id="326" r:id="rId14"/>
    <p:sldId id="320" r:id="rId15"/>
    <p:sldId id="321" r:id="rId16"/>
    <p:sldId id="306" r:id="rId17"/>
    <p:sldId id="327" r:id="rId18"/>
    <p:sldId id="307" r:id="rId19"/>
    <p:sldId id="308" r:id="rId20"/>
    <p:sldId id="322" r:id="rId21"/>
    <p:sldId id="309" r:id="rId22"/>
    <p:sldId id="310" r:id="rId23"/>
    <p:sldId id="311" r:id="rId24"/>
    <p:sldId id="312" r:id="rId25"/>
    <p:sldId id="314" r:id="rId26"/>
    <p:sldId id="315" r:id="rId27"/>
    <p:sldId id="313" r:id="rId28"/>
    <p:sldId id="316" r:id="rId29"/>
    <p:sldId id="324" r:id="rId30"/>
    <p:sldId id="317" r:id="rId31"/>
    <p:sldId id="323" r:id="rId32"/>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6" d="100"/>
          <a:sy n="86" d="100"/>
        </p:scale>
        <p:origin x="422" y="58"/>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25.09.2023</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25.09.2023</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2</a:t>
            </a:fld>
            <a:endParaRPr lang="ro-RO" dirty="0"/>
          </a:p>
        </p:txBody>
      </p:sp>
    </p:spTree>
    <p:extLst>
      <p:ext uri="{BB962C8B-B14F-4D97-AF65-F5344CB8AC3E}">
        <p14:creationId xmlns:p14="http://schemas.microsoft.com/office/powerpoint/2010/main" val="327389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25.09.2023</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25.09.2023</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25.09.2023</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25.09.2023</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sql/t-sql/statements/alter-database-transact-sql?view=sql-server-ver16&amp;tabs=sqlpool" TargetMode="External"/><Relationship Id="rId2" Type="http://schemas.openxmlformats.org/officeDocument/2006/relationships/hyperlink" Target="https://learn.microsoft.com/en-us/sql/t-sql/statements/create-database-transact-sql?view=sql-server-ver16&amp;tabs=sqlpool"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alter-table-transact-sql?view=sql-server-ver16" TargetMode="External"/><Relationship Id="rId5" Type="http://schemas.openxmlformats.org/officeDocument/2006/relationships/hyperlink" Target="https://learn.microsoft.com/en-us/sql/t-sql/statements/create-table-transact-sql?view=sql-server-ver16" TargetMode="External"/><Relationship Id="rId4" Type="http://schemas.openxmlformats.org/officeDocument/2006/relationships/hyperlink" Target="https://learn.microsoft.com/en-us/sql/t-sql/statements/drop-database-transact-sql?view=sql-server-ver16"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learn.microsoft.com/en-us/sql/relational-databases/tables/primary-and-foreign-key-constraints?view=sql-server-ver16" TargetMode="External"/><Relationship Id="rId2" Type="http://schemas.openxmlformats.org/officeDocument/2006/relationships/hyperlink" Target="https://learn.microsoft.com/en-us/sql/t-sql/statements/drop-table-transact-sql?view=sql-server-ver16" TargetMode="External"/><Relationship Id="rId1" Type="http://schemas.openxmlformats.org/officeDocument/2006/relationships/slideLayout" Target="../slideLayouts/slideLayout2.xml"/><Relationship Id="rId5" Type="http://schemas.openxmlformats.org/officeDocument/2006/relationships/hyperlink" Target="https://learn.microsoft.com/en-us/sql/relational-databases/tables/specify-default-values-for-columns?view=sql-server-ver16" TargetMode="External"/><Relationship Id="rId4" Type="http://schemas.openxmlformats.org/officeDocument/2006/relationships/hyperlink" Target="https://learn.microsoft.com/en-us/sql/relational-databases/tables/unique-constraints-and-check-constraints?view=sql-server-ver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en-US" dirty="0"/>
              <a:t>SQL DDL: </a:t>
            </a:r>
            <a:r>
              <a:rPr lang="en-US" dirty="0" err="1"/>
              <a:t>Limbaj</a:t>
            </a:r>
            <a:r>
              <a:rPr lang="en-US" dirty="0"/>
              <a:t> de </a:t>
            </a:r>
            <a:r>
              <a:rPr lang="en-US" dirty="0" err="1"/>
              <a:t>definire</a:t>
            </a:r>
            <a:r>
              <a:rPr lang="en-US" dirty="0"/>
              <a:t> a </a:t>
            </a:r>
            <a:r>
              <a:rPr lang="en-US" dirty="0" err="1"/>
              <a:t>datelor</a:t>
            </a:r>
            <a:endParaRPr lang="ro-RO" dirty="0"/>
          </a:p>
        </p:txBody>
      </p:sp>
      <p:sp>
        <p:nvSpPr>
          <p:cNvPr id="3" name="Subtitlu 2"/>
          <p:cNvSpPr>
            <a:spLocks noGrp="1"/>
          </p:cNvSpPr>
          <p:nvPr>
            <p:ph type="subTitle" idx="1"/>
          </p:nvPr>
        </p:nvSpPr>
        <p:spPr/>
        <p:txBody>
          <a:bodyPr rtlCol="0"/>
          <a:lstStyle/>
          <a:p>
            <a:pPr rtl="0"/>
            <a:r>
              <a:rPr lang="en-US" dirty="0"/>
              <a:t>Seminar 1</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dirty="0" err="1">
                <a:latin typeface="+mn-lt"/>
              </a:rPr>
              <a:t>Limbajul</a:t>
            </a:r>
            <a:r>
              <a:rPr lang="en-US" dirty="0">
                <a:latin typeface="+mn-lt"/>
              </a:rPr>
              <a:t> SQL: DDL</a:t>
            </a:r>
            <a:endParaRPr lang="ro-RO" dirty="0"/>
          </a:p>
        </p:txBody>
      </p:sp>
      <p:sp>
        <p:nvSpPr>
          <p:cNvPr id="3" name="Substituent conținut 2"/>
          <p:cNvSpPr>
            <a:spLocks noGrp="1"/>
          </p:cNvSpPr>
          <p:nvPr>
            <p:ph idx="1"/>
          </p:nvPr>
        </p:nvSpPr>
        <p:spPr>
          <a:xfrm>
            <a:off x="1341119" y="1572767"/>
            <a:ext cx="10404037" cy="4526191"/>
          </a:xfrm>
        </p:spPr>
        <p:txBody>
          <a:bodyPr rtlCol="0"/>
          <a:lstStyle/>
          <a:p>
            <a:r>
              <a:rPr lang="ro-RO" sz="2000" b="1" dirty="0"/>
              <a:t>DDL</a:t>
            </a:r>
            <a:r>
              <a:rPr lang="en-US" sz="2000" dirty="0"/>
              <a:t> (</a:t>
            </a:r>
            <a:r>
              <a:rPr lang="ro-RO" sz="2000" i="1" dirty="0"/>
              <a:t>Data Definition Language</a:t>
            </a:r>
            <a:r>
              <a:rPr lang="en-US" sz="2000" i="1" dirty="0"/>
              <a:t> </a:t>
            </a:r>
            <a:r>
              <a:rPr lang="en-US" sz="2000" dirty="0"/>
              <a:t>- </a:t>
            </a:r>
            <a:r>
              <a:rPr lang="ro-RO" sz="2000" b="1" i="1" dirty="0"/>
              <a:t>Limbaj de definire a datelor</a:t>
            </a:r>
            <a:r>
              <a:rPr lang="ro-RO" sz="2000" dirty="0"/>
              <a:t>) conține comenzi pentru creare/modificare/ștergere a: </a:t>
            </a:r>
          </a:p>
          <a:p>
            <a:pPr lvl="1"/>
            <a:r>
              <a:rPr lang="ro-RO" dirty="0"/>
              <a:t>bazelor de date</a:t>
            </a:r>
          </a:p>
          <a:p>
            <a:pPr lvl="1"/>
            <a:r>
              <a:rPr lang="ro-RO" dirty="0"/>
              <a:t>tabelelor</a:t>
            </a:r>
          </a:p>
          <a:p>
            <a:pPr lvl="1"/>
            <a:r>
              <a:rPr lang="ro-RO" dirty="0"/>
              <a:t>relațiilor dintre tabele</a:t>
            </a:r>
          </a:p>
          <a:p>
            <a:pPr lvl="1"/>
            <a:r>
              <a:rPr lang="ro-RO" dirty="0"/>
              <a:t>constrângerilor</a:t>
            </a:r>
          </a:p>
          <a:p>
            <a:pPr lvl="1"/>
            <a:r>
              <a:rPr lang="ro-RO" dirty="0"/>
              <a:t>indecșilor</a:t>
            </a:r>
          </a:p>
          <a:p>
            <a:pPr lvl="1"/>
            <a:endParaRPr lang="en-US" dirty="0"/>
          </a:p>
        </p:txBody>
      </p:sp>
    </p:spTree>
    <p:extLst>
      <p:ext uri="{BB962C8B-B14F-4D97-AF65-F5344CB8AC3E}">
        <p14:creationId xmlns:p14="http://schemas.microsoft.com/office/powerpoint/2010/main" val="332745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B6E9-B5F6-9E43-4E19-B7981A6840DA}"/>
              </a:ext>
            </a:extLst>
          </p:cNvPr>
          <p:cNvSpPr>
            <a:spLocks noGrp="1"/>
          </p:cNvSpPr>
          <p:nvPr>
            <p:ph type="title"/>
          </p:nvPr>
        </p:nvSpPr>
        <p:spPr/>
        <p:txBody>
          <a:bodyPr/>
          <a:lstStyle/>
          <a:p>
            <a:r>
              <a:rPr lang="ro-RO" dirty="0">
                <a:latin typeface="+mn-lt"/>
              </a:rPr>
              <a:t>Problemă</a:t>
            </a:r>
            <a:endParaRPr lang="ro-RO" dirty="0"/>
          </a:p>
        </p:txBody>
      </p:sp>
      <p:sp>
        <p:nvSpPr>
          <p:cNvPr id="3" name="Content Placeholder 2">
            <a:extLst>
              <a:ext uri="{FF2B5EF4-FFF2-40B4-BE49-F238E27FC236}">
                <a16:creationId xmlns:a16="http://schemas.microsoft.com/office/drawing/2014/main" id="{FCC30F75-A1C7-C8AF-3D7B-4E395B55C96E}"/>
              </a:ext>
            </a:extLst>
          </p:cNvPr>
          <p:cNvSpPr>
            <a:spLocks noGrp="1"/>
          </p:cNvSpPr>
          <p:nvPr>
            <p:ph idx="1"/>
          </p:nvPr>
        </p:nvSpPr>
        <p:spPr>
          <a:xfrm>
            <a:off x="1341119" y="1572767"/>
            <a:ext cx="10279751" cy="4685989"/>
          </a:xfrm>
        </p:spPr>
        <p:txBody>
          <a:bodyPr/>
          <a:lstStyle/>
          <a:p>
            <a:r>
              <a:rPr lang="ro-RO" sz="2400" dirty="0"/>
              <a:t>Să se creeze baza de date a unei aplicații care gestionează notele date de către utilizatori unor filme. </a:t>
            </a:r>
            <a:r>
              <a:rPr lang="ro-RO" sz="2400" b="1" dirty="0"/>
              <a:t>Entitățile</a:t>
            </a:r>
            <a:r>
              <a:rPr lang="ro-RO" sz="2400" dirty="0"/>
              <a:t> de interes pentru </a:t>
            </a:r>
            <a:r>
              <a:rPr lang="ro-RO" sz="2400" b="1" dirty="0"/>
              <a:t>domeniul problemei </a:t>
            </a:r>
            <a:r>
              <a:rPr lang="ro-RO" sz="2400" dirty="0"/>
              <a:t>sunt: </a:t>
            </a:r>
            <a:r>
              <a:rPr lang="ro-RO" sz="2400" i="1" dirty="0"/>
              <a:t>Utilizatori</a:t>
            </a:r>
            <a:r>
              <a:rPr lang="ro-RO" sz="2400" dirty="0"/>
              <a:t>, </a:t>
            </a:r>
            <a:r>
              <a:rPr lang="ro-RO" sz="2400" i="1" dirty="0"/>
              <a:t>Companii</a:t>
            </a:r>
            <a:r>
              <a:rPr lang="ro-RO" sz="2400" dirty="0"/>
              <a:t> și </a:t>
            </a:r>
            <a:r>
              <a:rPr lang="ro-RO" sz="2400" i="1" dirty="0"/>
              <a:t>Filme</a:t>
            </a:r>
            <a:r>
              <a:rPr lang="ro-RO" sz="2400" dirty="0"/>
              <a:t>. Fiecare companie are un </a:t>
            </a:r>
            <a:r>
              <a:rPr lang="ro-RO" sz="2400" b="1" dirty="0"/>
              <a:t>nume</a:t>
            </a:r>
            <a:r>
              <a:rPr lang="ro-RO" sz="2400" dirty="0"/>
              <a:t> și o </a:t>
            </a:r>
            <a:r>
              <a:rPr lang="ro-RO" sz="2400" b="1" dirty="0"/>
              <a:t>țară</a:t>
            </a:r>
            <a:r>
              <a:rPr lang="ro-RO" sz="2400" dirty="0"/>
              <a:t>. O companie poate produce mai multe filme, dar fiecare film este produs de către o singură companie. Fiecare film are un </a:t>
            </a:r>
            <a:r>
              <a:rPr lang="ro-RO" sz="2400" b="1" dirty="0"/>
              <a:t>titlu</a:t>
            </a:r>
            <a:r>
              <a:rPr lang="ro-RO" sz="2400" dirty="0"/>
              <a:t>, o </a:t>
            </a:r>
            <a:r>
              <a:rPr lang="ro-RO" sz="2400" b="1" dirty="0"/>
              <a:t>durată</a:t>
            </a:r>
            <a:r>
              <a:rPr lang="ro-RO" sz="2400" dirty="0"/>
              <a:t>, o </a:t>
            </a:r>
            <a:r>
              <a:rPr lang="ro-RO" sz="2400" b="1" dirty="0"/>
              <a:t>limbă</a:t>
            </a:r>
            <a:r>
              <a:rPr lang="ro-RO" sz="2400" dirty="0"/>
              <a:t> și este produs de către o singură </a:t>
            </a:r>
            <a:r>
              <a:rPr lang="ro-RO" sz="2400" b="1" dirty="0"/>
              <a:t>companie</a:t>
            </a:r>
            <a:r>
              <a:rPr lang="ro-RO" sz="2400" dirty="0"/>
              <a:t>. Utilizatorii pot da note mai multor filme, iar un film poate primi note de la mai mulți utilizatori. Fiecare utilizator are un </a:t>
            </a:r>
            <a:r>
              <a:rPr lang="ro-RO" sz="2400" b="1" dirty="0"/>
              <a:t>nume</a:t>
            </a:r>
            <a:r>
              <a:rPr lang="ro-RO" sz="2400" dirty="0"/>
              <a:t> </a:t>
            </a:r>
            <a:r>
              <a:rPr lang="ro-RO" sz="2400" b="1" dirty="0"/>
              <a:t>de utilizator</a:t>
            </a:r>
            <a:r>
              <a:rPr lang="ro-RO" sz="2400" dirty="0"/>
              <a:t>, o </a:t>
            </a:r>
            <a:r>
              <a:rPr lang="ro-RO" sz="2400" b="1" dirty="0"/>
              <a:t>parolă</a:t>
            </a:r>
            <a:r>
              <a:rPr lang="ro-RO" sz="2400" dirty="0"/>
              <a:t> și o </a:t>
            </a:r>
            <a:r>
              <a:rPr lang="ro-RO" sz="2400" b="1" dirty="0"/>
              <a:t>adresă de email</a:t>
            </a:r>
            <a:r>
              <a:rPr lang="ro-RO" sz="2400" dirty="0"/>
              <a:t>. Numele de utilizator și adresa de email sunt </a:t>
            </a:r>
            <a:r>
              <a:rPr lang="ro-RO" sz="2400" i="1" dirty="0"/>
              <a:t>unice</a:t>
            </a:r>
            <a:r>
              <a:rPr lang="ro-RO" sz="2400" dirty="0"/>
              <a:t>. Pentru numele de utilizator </a:t>
            </a:r>
            <a:r>
              <a:rPr lang="ro-RO" sz="2400" b="1" dirty="0"/>
              <a:t>nu</a:t>
            </a:r>
            <a:r>
              <a:rPr lang="ro-RO" sz="2400" dirty="0"/>
              <a:t> se poate specifica valoarea </a:t>
            </a:r>
            <a:r>
              <a:rPr lang="ro-RO" sz="2400" i="1" dirty="0"/>
              <a:t>NULL</a:t>
            </a:r>
            <a:r>
              <a:rPr lang="ro-RO" sz="2400" dirty="0"/>
              <a:t>. Fiecare utilizator poate da fiecărui film o singură notă. Valoarea notei este cuprinsă între 1 și 10. </a:t>
            </a:r>
          </a:p>
          <a:p>
            <a:endParaRPr lang="ro-RO" dirty="0"/>
          </a:p>
        </p:txBody>
      </p:sp>
    </p:spTree>
    <p:extLst>
      <p:ext uri="{BB962C8B-B14F-4D97-AF65-F5344CB8AC3E}">
        <p14:creationId xmlns:p14="http://schemas.microsoft.com/office/powerpoint/2010/main" val="96751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989400" y="395289"/>
            <a:ext cx="10213200" cy="1112836"/>
          </a:xfrm>
        </p:spPr>
        <p:txBody>
          <a:bodyPr/>
          <a:lstStyle/>
          <a:p>
            <a:r>
              <a:rPr lang="en-US" dirty="0" err="1">
                <a:latin typeface="+mn-lt"/>
              </a:rPr>
              <a:t>Rezolvare</a:t>
            </a:r>
            <a:r>
              <a:rPr lang="en-US" dirty="0">
                <a:latin typeface="+mn-lt"/>
              </a:rPr>
              <a:t>: </a:t>
            </a:r>
            <a:r>
              <a:rPr lang="en-US" dirty="0" err="1">
                <a:latin typeface="+mn-lt"/>
              </a:rPr>
              <a:t>diagrama</a:t>
            </a:r>
            <a:r>
              <a:rPr lang="en-US" dirty="0">
                <a:latin typeface="+mn-lt"/>
              </a:rPr>
              <a:t> </a:t>
            </a:r>
            <a:r>
              <a:rPr lang="en-US" dirty="0" err="1">
                <a:latin typeface="+mn-lt"/>
              </a:rPr>
              <a:t>bazei</a:t>
            </a:r>
            <a:r>
              <a:rPr lang="en-US" dirty="0">
                <a:latin typeface="+mn-lt"/>
              </a:rPr>
              <a:t> de date </a:t>
            </a:r>
            <a:r>
              <a:rPr lang="en-US" dirty="0" err="1">
                <a:latin typeface="+mn-lt"/>
              </a:rPr>
              <a:t>rela</a:t>
            </a:r>
            <a:r>
              <a:rPr lang="ro-RO" dirty="0">
                <a:latin typeface="+mn-lt"/>
              </a:rPr>
              <a:t>ționale</a:t>
            </a:r>
            <a:endParaRPr lang="en-US" dirty="0">
              <a:latin typeface="+mn-lt"/>
            </a:endParaRPr>
          </a:p>
        </p:txBody>
      </p:sp>
      <p:sp>
        <p:nvSpPr>
          <p:cNvPr id="10" name="Slide Number Placeholder 49">
            <a:extLst>
              <a:ext uri="{FF2B5EF4-FFF2-40B4-BE49-F238E27FC236}">
                <a16:creationId xmlns:a16="http://schemas.microsoft.com/office/drawing/2014/main" id="{01A08221-B499-4596-AFD9-5C9812459168}"/>
              </a:ext>
            </a:extLst>
          </p:cNvPr>
          <p:cNvSpPr>
            <a:spLocks noGrp="1"/>
          </p:cNvSpPr>
          <p:nvPr>
            <p:ph type="sldNum" sz="quarter" idx="12"/>
          </p:nvPr>
        </p:nvSpPr>
        <p:spPr>
          <a:xfrm>
            <a:off x="9982800" y="6357600"/>
            <a:ext cx="1760150" cy="460800"/>
          </a:xfrm>
        </p:spPr>
        <p:txBody>
          <a:bodyPr/>
          <a:lstStyle/>
          <a:p>
            <a:fld id="{D39607A7-8386-47DB-8578-DDEDD194E5D4}" type="slidenum">
              <a:rPr lang="en-US" smtClean="0"/>
              <a:pPr/>
              <a:t>4</a:t>
            </a:fld>
            <a:endParaRPr lang="en-US" dirty="0"/>
          </a:p>
        </p:txBody>
      </p:sp>
      <p:pic>
        <p:nvPicPr>
          <p:cNvPr id="11" name="Content Placeholder 10">
            <a:extLst>
              <a:ext uri="{FF2B5EF4-FFF2-40B4-BE49-F238E27FC236}">
                <a16:creationId xmlns:a16="http://schemas.microsoft.com/office/drawing/2014/main" id="{9C0D9EBA-6288-5BA4-DFD7-EA27D7C5CA54}"/>
              </a:ext>
            </a:extLst>
          </p:cNvPr>
          <p:cNvPicPr>
            <a:picLocks noGrp="1" noChangeAspect="1"/>
          </p:cNvPicPr>
          <p:nvPr>
            <p:ph idx="1"/>
          </p:nvPr>
        </p:nvPicPr>
        <p:blipFill>
          <a:blip r:embed="rId2"/>
          <a:stretch>
            <a:fillRect/>
          </a:stretch>
        </p:blipFill>
        <p:spPr>
          <a:xfrm>
            <a:off x="1117246" y="2660849"/>
            <a:ext cx="8543925" cy="2438400"/>
          </a:xfrm>
        </p:spPr>
      </p:pic>
      <p:cxnSp>
        <p:nvCxnSpPr>
          <p:cNvPr id="13" name="Straight Arrow Connector 12">
            <a:extLst>
              <a:ext uri="{FF2B5EF4-FFF2-40B4-BE49-F238E27FC236}">
                <a16:creationId xmlns:a16="http://schemas.microsoft.com/office/drawing/2014/main" id="{9C7FF996-5E3F-B97E-FCC5-CFA340E9FEE0}"/>
              </a:ext>
            </a:extLst>
          </p:cNvPr>
          <p:cNvCxnSpPr>
            <a:cxnSpLocks/>
          </p:cNvCxnSpPr>
          <p:nvPr/>
        </p:nvCxnSpPr>
        <p:spPr>
          <a:xfrm flipH="1">
            <a:off x="8505170" y="2539235"/>
            <a:ext cx="941758" cy="541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E7251AB-A789-E450-6F87-E849AECE02CE}"/>
              </a:ext>
            </a:extLst>
          </p:cNvPr>
          <p:cNvSpPr txBox="1"/>
          <p:nvPr/>
        </p:nvSpPr>
        <p:spPr>
          <a:xfrm>
            <a:off x="9339308" y="2332697"/>
            <a:ext cx="2015231" cy="369332"/>
          </a:xfrm>
          <a:prstGeom prst="rect">
            <a:avLst/>
          </a:prstGeom>
          <a:noFill/>
        </p:spPr>
        <p:txBody>
          <a:bodyPr wrap="square" rtlCol="0">
            <a:spAutoFit/>
          </a:bodyPr>
          <a:lstStyle/>
          <a:p>
            <a:r>
              <a:rPr lang="ro-RO" dirty="0"/>
              <a:t> numele tabelului</a:t>
            </a:r>
          </a:p>
        </p:txBody>
      </p:sp>
      <p:cxnSp>
        <p:nvCxnSpPr>
          <p:cNvPr id="17" name="Straight Arrow Connector 16">
            <a:extLst>
              <a:ext uri="{FF2B5EF4-FFF2-40B4-BE49-F238E27FC236}">
                <a16:creationId xmlns:a16="http://schemas.microsoft.com/office/drawing/2014/main" id="{755BC55A-CD48-293C-E363-3B256670AA7C}"/>
              </a:ext>
            </a:extLst>
          </p:cNvPr>
          <p:cNvCxnSpPr/>
          <p:nvPr/>
        </p:nvCxnSpPr>
        <p:spPr>
          <a:xfrm>
            <a:off x="4804692" y="2352804"/>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82B93DF-5CC8-917F-DEE2-980D771D8E09}"/>
              </a:ext>
            </a:extLst>
          </p:cNvPr>
          <p:cNvSpPr txBox="1"/>
          <p:nvPr/>
        </p:nvSpPr>
        <p:spPr>
          <a:xfrm>
            <a:off x="3797076" y="1983472"/>
            <a:ext cx="3873231" cy="369332"/>
          </a:xfrm>
          <a:prstGeom prst="rect">
            <a:avLst/>
          </a:prstGeom>
          <a:noFill/>
        </p:spPr>
        <p:txBody>
          <a:bodyPr wrap="square" rtlCol="0">
            <a:spAutoFit/>
          </a:bodyPr>
          <a:lstStyle/>
          <a:p>
            <a:r>
              <a:rPr lang="ro-RO" dirty="0"/>
              <a:t> cheia primară (primary key)</a:t>
            </a:r>
          </a:p>
        </p:txBody>
      </p:sp>
      <p:cxnSp>
        <p:nvCxnSpPr>
          <p:cNvPr id="20" name="Straight Arrow Connector 19">
            <a:extLst>
              <a:ext uri="{FF2B5EF4-FFF2-40B4-BE49-F238E27FC236}">
                <a16:creationId xmlns:a16="http://schemas.microsoft.com/office/drawing/2014/main" id="{CC6BCE21-E2CC-0492-52E4-2FCC53E2D164}"/>
              </a:ext>
            </a:extLst>
          </p:cNvPr>
          <p:cNvCxnSpPr>
            <a:cxnSpLocks/>
          </p:cNvCxnSpPr>
          <p:nvPr/>
        </p:nvCxnSpPr>
        <p:spPr>
          <a:xfrm flipV="1">
            <a:off x="2530829" y="3338003"/>
            <a:ext cx="798298" cy="2069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D33AA0D-1305-45C6-711C-8E1EB11F9938}"/>
              </a:ext>
            </a:extLst>
          </p:cNvPr>
          <p:cNvSpPr txBox="1"/>
          <p:nvPr/>
        </p:nvSpPr>
        <p:spPr>
          <a:xfrm>
            <a:off x="1523213" y="5407294"/>
            <a:ext cx="3281479" cy="369332"/>
          </a:xfrm>
          <a:prstGeom prst="rect">
            <a:avLst/>
          </a:prstGeom>
          <a:noFill/>
        </p:spPr>
        <p:txBody>
          <a:bodyPr wrap="square" rtlCol="0">
            <a:spAutoFit/>
          </a:bodyPr>
          <a:lstStyle/>
          <a:p>
            <a:r>
              <a:rPr lang="ro-RO" dirty="0"/>
              <a:t> cheia externă (foreign key)</a:t>
            </a:r>
          </a:p>
        </p:txBody>
      </p:sp>
      <p:sp>
        <p:nvSpPr>
          <p:cNvPr id="24" name="TextBox 23">
            <a:extLst>
              <a:ext uri="{FF2B5EF4-FFF2-40B4-BE49-F238E27FC236}">
                <a16:creationId xmlns:a16="http://schemas.microsoft.com/office/drawing/2014/main" id="{D52681B8-A58D-C2D7-8893-FFE553D2EF07}"/>
              </a:ext>
            </a:extLst>
          </p:cNvPr>
          <p:cNvSpPr txBox="1"/>
          <p:nvPr/>
        </p:nvSpPr>
        <p:spPr>
          <a:xfrm>
            <a:off x="2929978" y="4229212"/>
            <a:ext cx="2509582" cy="646331"/>
          </a:xfrm>
          <a:prstGeom prst="rect">
            <a:avLst/>
          </a:prstGeom>
          <a:noFill/>
        </p:spPr>
        <p:txBody>
          <a:bodyPr wrap="square" rtlCol="0">
            <a:spAutoFit/>
          </a:bodyPr>
          <a:lstStyle/>
          <a:p>
            <a:pPr algn="ctr"/>
            <a:r>
              <a:rPr lang="ro-RO" dirty="0"/>
              <a:t> tabel de legătură (relație many to many) </a:t>
            </a:r>
          </a:p>
        </p:txBody>
      </p:sp>
    </p:spTree>
    <p:extLst>
      <p:ext uri="{BB962C8B-B14F-4D97-AF65-F5344CB8AC3E}">
        <p14:creationId xmlns:p14="http://schemas.microsoft.com/office/powerpoint/2010/main" val="152738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În primul rând, este necesară crearea unei noi baze de date, utilizând instrucțiunea </a:t>
            </a:r>
            <a:r>
              <a:rPr lang="ro-RO" b="1" i="1" dirty="0"/>
              <a:t>CREATE DATABASE</a:t>
            </a:r>
            <a:r>
              <a:rPr lang="ro-RO" dirty="0"/>
              <a:t>:</a:t>
            </a:r>
            <a:endParaRPr lang="en-US" dirty="0"/>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en-US" dirty="0" err="1">
                <a:solidFill>
                  <a:schemeClr val="accent1">
                    <a:lumMod val="75000"/>
                    <a:alpha val="60000"/>
                  </a:schemeClr>
                </a:solidFill>
              </a:rPr>
              <a:t>bazei</a:t>
            </a:r>
            <a:r>
              <a:rPr lang="en-US" dirty="0">
                <a:solidFill>
                  <a:schemeClr val="accent1">
                    <a:lumMod val="75000"/>
                    <a:alpha val="60000"/>
                  </a:schemeClr>
                </a:solidFill>
              </a:rPr>
              <a:t> de date</a:t>
            </a:r>
            <a:r>
              <a:rPr lang="ro-RO" dirty="0">
                <a:solidFill>
                  <a:schemeClr val="accent1">
                    <a:lumMod val="75000"/>
                    <a:alpha val="60000"/>
                  </a:schemeClr>
                </a:solidFill>
              </a:rPr>
              <a:t> cu numele </a:t>
            </a:r>
            <a:r>
              <a:rPr lang="ro-RO" i="1" dirty="0">
                <a:solidFill>
                  <a:schemeClr val="accent1">
                    <a:lumMod val="75000"/>
                    <a:alpha val="60000"/>
                  </a:schemeClr>
                </a:solidFill>
              </a:rPr>
              <a:t>ProblemaFilme</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CREATE DATABASE </a:t>
            </a:r>
            <a:r>
              <a:rPr lang="en-US" dirty="0" err="1">
                <a:latin typeface="Consolas" panose="020B0609020204030204" pitchFamily="49" charset="0"/>
              </a:rPr>
              <a:t>ProblemaFilme</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GO</a:t>
            </a:r>
          </a:p>
          <a:p>
            <a:endParaRPr lang="ro-RO"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213200" cy="4954572"/>
          </a:xfrm>
        </p:spPr>
        <p:txBody>
          <a:bodyPr>
            <a:normAutofit/>
          </a:bodyPr>
          <a:lstStyle/>
          <a:p>
            <a:r>
              <a:rPr lang="ro-RO" dirty="0"/>
              <a:t>După ce am creat baza de date, este necesar să ne conectăm la aceasta înainte de a crea tabelele folosind instrucțiunea </a:t>
            </a:r>
            <a:r>
              <a:rPr lang="ro-RO" b="1" i="1" dirty="0"/>
              <a:t>USE</a:t>
            </a:r>
            <a:r>
              <a:rPr lang="ro-RO" dirty="0"/>
              <a:t>:</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Conectarea</a:t>
            </a:r>
            <a:r>
              <a:rPr lang="en-US" dirty="0">
                <a:solidFill>
                  <a:schemeClr val="accent1">
                    <a:lumMod val="75000"/>
                    <a:alpha val="60000"/>
                  </a:schemeClr>
                </a:solidFill>
              </a:rPr>
              <a:t> la </a:t>
            </a:r>
            <a:r>
              <a:rPr lang="en-US" dirty="0" err="1">
                <a:solidFill>
                  <a:schemeClr val="accent1">
                    <a:lumMod val="75000"/>
                    <a:alpha val="60000"/>
                  </a:schemeClr>
                </a:solidFill>
              </a:rPr>
              <a:t>baza</a:t>
            </a:r>
            <a:r>
              <a:rPr lang="en-US" dirty="0">
                <a:solidFill>
                  <a:schemeClr val="accent1">
                    <a:lumMod val="75000"/>
                    <a:alpha val="60000"/>
                  </a:schemeClr>
                </a:solidFill>
              </a:rPr>
              <a:t> de date</a:t>
            </a:r>
          </a:p>
          <a:p>
            <a:pPr marL="0" indent="0">
              <a:buNone/>
            </a:pPr>
            <a:r>
              <a:rPr lang="ro-RO" dirty="0"/>
              <a:t>	</a:t>
            </a:r>
            <a:r>
              <a:rPr lang="en-US" dirty="0">
                <a:solidFill>
                  <a:srgbClr val="0000FF">
                    <a:alpha val="60000"/>
                  </a:srgbClr>
                </a:solidFill>
                <a:latin typeface="Consolas" panose="020B0609020204030204" pitchFamily="49" charset="0"/>
              </a:rPr>
              <a:t>USE</a:t>
            </a:r>
            <a:r>
              <a:rPr lang="en-US" dirty="0">
                <a:latin typeface="Consolas" panose="020B0609020204030204" pitchFamily="49" charset="0"/>
              </a:rPr>
              <a:t> </a:t>
            </a:r>
            <a:r>
              <a:rPr lang="en-US" dirty="0" err="1">
                <a:latin typeface="Consolas" panose="020B0609020204030204" pitchFamily="49" charset="0"/>
              </a:rPr>
              <a:t>ProblemaFilme</a:t>
            </a:r>
            <a:r>
              <a:rPr lang="en-US" dirty="0">
                <a:latin typeface="Consolas" panose="020B0609020204030204" pitchFamily="49" charset="0"/>
              </a:rPr>
              <a:t>;</a:t>
            </a:r>
          </a:p>
          <a:p>
            <a:r>
              <a:rPr lang="ro-RO" dirty="0">
                <a:solidFill>
                  <a:srgbClr val="FF0000">
                    <a:alpha val="60000"/>
                  </a:srgbClr>
                </a:solidFill>
              </a:rPr>
              <a:t>!!!Dacă </a:t>
            </a:r>
            <a:r>
              <a:rPr lang="ro-RO" b="1" dirty="0">
                <a:solidFill>
                  <a:srgbClr val="FF0000">
                    <a:alpha val="60000"/>
                  </a:srgbClr>
                </a:solidFill>
              </a:rPr>
              <a:t>nu</a:t>
            </a:r>
            <a:r>
              <a:rPr lang="ro-RO" dirty="0">
                <a:solidFill>
                  <a:srgbClr val="FF0000">
                    <a:alpha val="60000"/>
                  </a:srgbClr>
                </a:solidFill>
              </a:rPr>
              <a:t> ne conectăm la baza de date </a:t>
            </a:r>
            <a:r>
              <a:rPr lang="ro-RO" i="1" dirty="0">
                <a:solidFill>
                  <a:srgbClr val="FF0000">
                    <a:alpha val="60000"/>
                  </a:srgbClr>
                </a:solidFill>
              </a:rPr>
              <a:t>ProblemaFilme</a:t>
            </a:r>
            <a:r>
              <a:rPr lang="ro-RO" dirty="0">
                <a:solidFill>
                  <a:srgbClr val="FF0000">
                    <a:alpha val="60000"/>
                  </a:srgbClr>
                </a:solidFill>
              </a:rPr>
              <a:t>, instrucțiunile de creare a tabelelor ce urmează a fi executate vor crea aceste tabele în contextul unei alte baze de date (de obicei în baza de date </a:t>
            </a:r>
            <a:r>
              <a:rPr lang="ro-RO" i="1" dirty="0">
                <a:solidFill>
                  <a:srgbClr val="FF0000">
                    <a:alpha val="60000"/>
                  </a:srgbClr>
                </a:solidFill>
              </a:rPr>
              <a:t>master</a:t>
            </a:r>
            <a:r>
              <a:rPr lang="ro-RO" dirty="0">
                <a:solidFill>
                  <a:srgbClr val="FF0000">
                    <a:alpha val="60000"/>
                  </a:srgbClr>
                </a:solidFill>
              </a:rPr>
              <a:t>)</a:t>
            </a:r>
          </a:p>
        </p:txBody>
      </p:sp>
    </p:spTree>
    <p:extLst>
      <p:ext uri="{BB962C8B-B14F-4D97-AF65-F5344CB8AC3E}">
        <p14:creationId xmlns:p14="http://schemas.microsoft.com/office/powerpoint/2010/main" val="426317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882868" y="1711209"/>
            <a:ext cx="10569326" cy="4954572"/>
          </a:xfrm>
        </p:spPr>
        <p:txBody>
          <a:bodyPr>
            <a:normAutofit/>
          </a:bodyPr>
          <a:lstStyle/>
          <a:p>
            <a:r>
              <a:rPr lang="ro-RO" dirty="0"/>
              <a:t>Urmează crearea primului tabel din baza de date </a:t>
            </a:r>
            <a:r>
              <a:rPr lang="ro-RO" i="1" dirty="0"/>
              <a:t>ProblemaFilme</a:t>
            </a:r>
            <a:r>
              <a:rPr lang="ro-RO" dirty="0"/>
              <a:t>, folosind instrucțiunea </a:t>
            </a:r>
            <a:r>
              <a:rPr lang="ro-RO" b="1" i="1" dirty="0"/>
              <a:t>CREATE TABLE</a:t>
            </a:r>
            <a:r>
              <a:rPr lang="ro-RO" dirty="0"/>
              <a:t>:</a:t>
            </a:r>
          </a:p>
          <a:p>
            <a:pPr marL="0" indent="0">
              <a:buNone/>
            </a:pPr>
            <a:r>
              <a:rPr lang="en-US"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Utilizatori</a:t>
            </a:r>
          </a:p>
          <a:p>
            <a:pPr marL="320040" lvl="1" indent="0">
              <a:buNone/>
            </a:pPr>
            <a:r>
              <a:rPr lang="ro-RO" i="0" dirty="0">
                <a:solidFill>
                  <a:srgbClr val="0000FF">
                    <a:alpha val="60000"/>
                  </a:srgbClr>
                </a:solidFill>
                <a:latin typeface="Consolas" panose="020B0609020204030204" pitchFamily="49" charset="0"/>
              </a:rPr>
              <a:t>	</a:t>
            </a:r>
            <a:r>
              <a:rPr lang="en-US" i="0" dirty="0">
                <a:solidFill>
                  <a:srgbClr val="0000FF">
                    <a:alpha val="60000"/>
                  </a:srgbClr>
                </a:solidFill>
                <a:latin typeface="Consolas" panose="020B0609020204030204" pitchFamily="49" charset="0"/>
              </a:rPr>
              <a:t>CREATE TABLE </a:t>
            </a:r>
            <a:r>
              <a:rPr lang="en-US" i="0" dirty="0" err="1">
                <a:latin typeface="Consolas" panose="020B0609020204030204" pitchFamily="49" charset="0"/>
              </a:rPr>
              <a:t>Utilizatori</a:t>
            </a:r>
            <a:endParaRPr lang="ro-RO" i="0" dirty="0">
              <a:latin typeface="Consolas" panose="020B0609020204030204" pitchFamily="49" charset="0"/>
            </a:endParaRPr>
          </a:p>
          <a:p>
            <a:pPr marL="320040" lvl="1" indent="0">
              <a:buNone/>
            </a:pPr>
            <a:r>
              <a:rPr lang="ro-RO" dirty="0">
                <a:latin typeface="Consolas" panose="020B0609020204030204" pitchFamily="49" charset="0"/>
              </a:rPr>
              <a:t>	</a:t>
            </a:r>
            <a:r>
              <a:rPr lang="en-US" dirty="0">
                <a:latin typeface="Consolas" panose="020B0609020204030204" pitchFamily="49" charset="0"/>
              </a:rPr>
              <a:t>(</a:t>
            </a:r>
            <a:r>
              <a:rPr lang="en-US" i="0" dirty="0" err="1">
                <a:latin typeface="Consolas" panose="020B0609020204030204" pitchFamily="49" charset="0"/>
              </a:rPr>
              <a:t>cod_u</a:t>
            </a:r>
            <a:r>
              <a:rPr lang="en-US" dirty="0">
                <a:latin typeface="Consolas" panose="020B0609020204030204" pitchFamily="49" charset="0"/>
              </a:rPr>
              <a:t> </a:t>
            </a:r>
            <a:r>
              <a:rPr lang="en-US" i="0" dirty="0">
                <a:solidFill>
                  <a:srgbClr val="0000FF">
                    <a:alpha val="60000"/>
                  </a:srgbClr>
                </a:solidFill>
                <a:latin typeface="Consolas" panose="020B0609020204030204" pitchFamily="49" charset="0"/>
              </a:rPr>
              <a:t>INT </a:t>
            </a:r>
            <a:r>
              <a:rPr lang="en-US" i="0" dirty="0">
                <a:solidFill>
                  <a:srgbClr val="0000FF">
                    <a:alpha val="60000"/>
                  </a:srgbClr>
                </a:solidFill>
                <a:highlight>
                  <a:srgbClr val="FFFF00"/>
                </a:highlight>
                <a:latin typeface="Consolas" panose="020B0609020204030204" pitchFamily="49" charset="0"/>
              </a:rPr>
              <a:t>PRIMARY KEY</a:t>
            </a:r>
            <a:r>
              <a:rPr lang="en-US" i="0" dirty="0">
                <a:solidFill>
                  <a:srgbClr val="0000FF">
                    <a:alpha val="60000"/>
                  </a:srgbClr>
                </a:solidFill>
                <a:latin typeface="Consolas" panose="020B0609020204030204" pitchFamily="49" charset="0"/>
              </a:rPr>
              <a:t> </a:t>
            </a:r>
            <a:r>
              <a:rPr lang="en-US" i="0" dirty="0">
                <a:solidFill>
                  <a:srgbClr val="0000FF">
                    <a:alpha val="60000"/>
                  </a:srgbClr>
                </a:solidFill>
                <a:highlight>
                  <a:srgbClr val="00FF00"/>
                </a:highlight>
                <a:latin typeface="Consolas" panose="020B0609020204030204" pitchFamily="49" charset="0"/>
              </a:rPr>
              <a:t>IDENTITY</a:t>
            </a:r>
            <a:r>
              <a:rPr lang="en-US"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nume_u</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 </a:t>
            </a:r>
            <a:r>
              <a:rPr lang="en-US" sz="1800" dirty="0">
                <a:solidFill>
                  <a:srgbClr val="0000FF">
                    <a:alpha val="60000"/>
                  </a:srgbClr>
                </a:solidFill>
                <a:highlight>
                  <a:srgbClr val="FFFF00"/>
                </a:highlight>
                <a:latin typeface="Consolas" panose="020B0609020204030204" pitchFamily="49" charset="0"/>
              </a:rPr>
              <a:t>NOT NULL</a:t>
            </a:r>
            <a:r>
              <a:rPr lang="en-US" sz="1800" dirty="0">
                <a:solidFill>
                  <a:srgbClr val="0000FF">
                    <a:alpha val="60000"/>
                  </a:srgbClr>
                </a:solidFill>
                <a:latin typeface="Consolas" panose="020B0609020204030204" pitchFamily="49" charset="0"/>
              </a:rPr>
              <a:t> </a:t>
            </a:r>
            <a:r>
              <a:rPr lang="en-US" sz="1800" dirty="0">
                <a:solidFill>
                  <a:srgbClr val="0000FF">
                    <a:alpha val="60000"/>
                  </a:srgbClr>
                </a:solidFill>
                <a:highlight>
                  <a:srgbClr val="FFFF00"/>
                </a:highlight>
                <a:latin typeface="Consolas" panose="020B0609020204030204" pitchFamily="49" charset="0"/>
              </a:rPr>
              <a:t>UNIQUE</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parola</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a:latin typeface="Consolas" panose="020B0609020204030204" pitchFamily="49" charset="0"/>
              </a:rPr>
              <a:t>email </a:t>
            </a:r>
            <a:r>
              <a:rPr lang="en-US" sz="1800" dirty="0">
                <a:solidFill>
                  <a:srgbClr val="0000FF">
                    <a:alpha val="60000"/>
                  </a:srgbClr>
                </a:solidFill>
                <a:latin typeface="Consolas" panose="020B0609020204030204" pitchFamily="49" charset="0"/>
              </a:rPr>
              <a:t>VARCHAR(100) </a:t>
            </a:r>
          </a:p>
          <a:p>
            <a:pPr marL="0" indent="0">
              <a:buNone/>
            </a:pPr>
            <a:r>
              <a:rPr lang="ro-RO" sz="1800" dirty="0">
                <a:latin typeface="Consolas" panose="020B0609020204030204" pitchFamily="49" charset="0"/>
              </a:rPr>
              <a:t>	</a:t>
            </a:r>
            <a:r>
              <a:rPr lang="en-US" sz="1800" dirty="0">
                <a:latin typeface="Consolas" panose="020B0609020204030204" pitchFamily="49" charset="0"/>
              </a:rPr>
              <a:t>);</a:t>
            </a:r>
          </a:p>
        </p:txBody>
      </p:sp>
      <p:cxnSp>
        <p:nvCxnSpPr>
          <p:cNvPr id="19" name="Straight Arrow Connector 18">
            <a:extLst>
              <a:ext uri="{FF2B5EF4-FFF2-40B4-BE49-F238E27FC236}">
                <a16:creationId xmlns:a16="http://schemas.microsoft.com/office/drawing/2014/main" id="{D876C20B-04C9-5619-3E3C-0B0CFDDD8980}"/>
              </a:ext>
            </a:extLst>
          </p:cNvPr>
          <p:cNvCxnSpPr>
            <a:cxnSpLocks/>
          </p:cNvCxnSpPr>
          <p:nvPr/>
        </p:nvCxnSpPr>
        <p:spPr>
          <a:xfrm flipH="1">
            <a:off x="6302034" y="3513270"/>
            <a:ext cx="1206625" cy="248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138146C-8417-9FAE-848B-F322A93A01FA}"/>
              </a:ext>
            </a:extLst>
          </p:cNvPr>
          <p:cNvSpPr txBox="1"/>
          <p:nvPr/>
        </p:nvSpPr>
        <p:spPr>
          <a:xfrm>
            <a:off x="7508659" y="3328613"/>
            <a:ext cx="2916314" cy="369332"/>
          </a:xfrm>
          <a:prstGeom prst="rect">
            <a:avLst/>
          </a:prstGeom>
          <a:noFill/>
        </p:spPr>
        <p:txBody>
          <a:bodyPr wrap="square" rtlCol="0">
            <a:spAutoFit/>
          </a:bodyPr>
          <a:lstStyle/>
          <a:p>
            <a:r>
              <a:rPr lang="ro-RO" dirty="0"/>
              <a:t>Constrângere </a:t>
            </a:r>
            <a:r>
              <a:rPr lang="ro-RO" dirty="0">
                <a:solidFill>
                  <a:srgbClr val="0000FF"/>
                </a:solidFill>
              </a:rPr>
              <a:t>UNIQUE</a:t>
            </a:r>
          </a:p>
        </p:txBody>
      </p:sp>
      <p:sp>
        <p:nvSpPr>
          <p:cNvPr id="27" name="TextBox 26">
            <a:extLst>
              <a:ext uri="{FF2B5EF4-FFF2-40B4-BE49-F238E27FC236}">
                <a16:creationId xmlns:a16="http://schemas.microsoft.com/office/drawing/2014/main" id="{629128A8-E79B-1D38-85FD-D1D592A6B2F7}"/>
              </a:ext>
            </a:extLst>
          </p:cNvPr>
          <p:cNvSpPr txBox="1"/>
          <p:nvPr/>
        </p:nvSpPr>
        <p:spPr>
          <a:xfrm>
            <a:off x="7119891" y="2474537"/>
            <a:ext cx="3264763" cy="369332"/>
          </a:xfrm>
          <a:prstGeom prst="rect">
            <a:avLst/>
          </a:prstGeom>
          <a:noFill/>
        </p:spPr>
        <p:txBody>
          <a:bodyPr wrap="square" rtlCol="0">
            <a:spAutoFit/>
          </a:bodyPr>
          <a:lstStyle/>
          <a:p>
            <a:r>
              <a:rPr lang="ro-RO" dirty="0"/>
              <a:t>Constrângere </a:t>
            </a:r>
            <a:r>
              <a:rPr lang="ro-RO" dirty="0">
                <a:solidFill>
                  <a:srgbClr val="0000FF"/>
                </a:solidFill>
              </a:rPr>
              <a:t>PRIMARY KEY</a:t>
            </a:r>
          </a:p>
        </p:txBody>
      </p:sp>
      <p:cxnSp>
        <p:nvCxnSpPr>
          <p:cNvPr id="29" name="Straight Arrow Connector 28">
            <a:extLst>
              <a:ext uri="{FF2B5EF4-FFF2-40B4-BE49-F238E27FC236}">
                <a16:creationId xmlns:a16="http://schemas.microsoft.com/office/drawing/2014/main" id="{5375AC40-4D16-81D2-5535-A51BB2599129}"/>
              </a:ext>
            </a:extLst>
          </p:cNvPr>
          <p:cNvCxnSpPr>
            <a:cxnSpLocks/>
          </p:cNvCxnSpPr>
          <p:nvPr/>
        </p:nvCxnSpPr>
        <p:spPr>
          <a:xfrm flipH="1">
            <a:off x="4375950" y="2714818"/>
            <a:ext cx="2743941" cy="577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3892F117-08FB-1E3C-D043-81166AD79E87}"/>
              </a:ext>
            </a:extLst>
          </p:cNvPr>
          <p:cNvCxnSpPr>
            <a:cxnSpLocks/>
          </p:cNvCxnSpPr>
          <p:nvPr/>
        </p:nvCxnSpPr>
        <p:spPr>
          <a:xfrm flipH="1" flipV="1">
            <a:off x="5167172" y="4048740"/>
            <a:ext cx="1161495" cy="607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20A702AD-C9E3-CF16-154D-7F3173E93039}"/>
              </a:ext>
            </a:extLst>
          </p:cNvPr>
          <p:cNvSpPr txBox="1"/>
          <p:nvPr/>
        </p:nvSpPr>
        <p:spPr>
          <a:xfrm>
            <a:off x="6328667" y="4454996"/>
            <a:ext cx="2916314" cy="369332"/>
          </a:xfrm>
          <a:prstGeom prst="rect">
            <a:avLst/>
          </a:prstGeom>
          <a:noFill/>
        </p:spPr>
        <p:txBody>
          <a:bodyPr wrap="square" rtlCol="0">
            <a:spAutoFit/>
          </a:bodyPr>
          <a:lstStyle/>
          <a:p>
            <a:r>
              <a:rPr lang="ro-RO" dirty="0"/>
              <a:t>Constrângere </a:t>
            </a:r>
            <a:r>
              <a:rPr lang="ro-RO" dirty="0">
                <a:solidFill>
                  <a:srgbClr val="0000FF"/>
                </a:solidFill>
              </a:rPr>
              <a:t>NOT NULL</a:t>
            </a:r>
          </a:p>
        </p:txBody>
      </p:sp>
      <p:cxnSp>
        <p:nvCxnSpPr>
          <p:cNvPr id="36" name="Straight Arrow Connector 35">
            <a:extLst>
              <a:ext uri="{FF2B5EF4-FFF2-40B4-BE49-F238E27FC236}">
                <a16:creationId xmlns:a16="http://schemas.microsoft.com/office/drawing/2014/main" id="{4A56A4F6-C5C3-7BA2-C037-67B2766520FB}"/>
              </a:ext>
            </a:extLst>
          </p:cNvPr>
          <p:cNvCxnSpPr>
            <a:cxnSpLocks/>
          </p:cNvCxnSpPr>
          <p:nvPr/>
        </p:nvCxnSpPr>
        <p:spPr>
          <a:xfrm flipH="1">
            <a:off x="5868140" y="3064709"/>
            <a:ext cx="1251751" cy="2626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E4B142EF-1ECF-3AED-C1E2-8BC0F4F6005C}"/>
              </a:ext>
            </a:extLst>
          </p:cNvPr>
          <p:cNvSpPr txBox="1"/>
          <p:nvPr/>
        </p:nvSpPr>
        <p:spPr>
          <a:xfrm>
            <a:off x="7119891" y="2839531"/>
            <a:ext cx="2916314" cy="369332"/>
          </a:xfrm>
          <a:prstGeom prst="rect">
            <a:avLst/>
          </a:prstGeom>
          <a:noFill/>
        </p:spPr>
        <p:txBody>
          <a:bodyPr wrap="square" rtlCol="0">
            <a:spAutoFit/>
          </a:bodyPr>
          <a:lstStyle/>
          <a:p>
            <a:r>
              <a:rPr lang="en-US" dirty="0" err="1"/>
              <a:t>Proprietate</a:t>
            </a:r>
            <a:r>
              <a:rPr lang="ro-RO" dirty="0"/>
              <a:t> </a:t>
            </a:r>
            <a:r>
              <a:rPr lang="en-US" dirty="0">
                <a:solidFill>
                  <a:srgbClr val="0000FF"/>
                </a:solidFill>
              </a:rPr>
              <a:t>IDENTITY</a:t>
            </a:r>
            <a:endParaRPr lang="ro-RO" dirty="0">
              <a:solidFill>
                <a:srgbClr val="0000FF"/>
              </a:solidFill>
            </a:endParaRPr>
          </a:p>
        </p:txBody>
      </p:sp>
      <p:cxnSp>
        <p:nvCxnSpPr>
          <p:cNvPr id="39" name="Straight Arrow Connector 38">
            <a:extLst>
              <a:ext uri="{FF2B5EF4-FFF2-40B4-BE49-F238E27FC236}">
                <a16:creationId xmlns:a16="http://schemas.microsoft.com/office/drawing/2014/main" id="{22F68E20-83FD-7F65-7C1C-4912E7B9859C}"/>
              </a:ext>
            </a:extLst>
          </p:cNvPr>
          <p:cNvCxnSpPr>
            <a:cxnSpLocks/>
          </p:cNvCxnSpPr>
          <p:nvPr/>
        </p:nvCxnSpPr>
        <p:spPr>
          <a:xfrm flipH="1" flipV="1">
            <a:off x="4107956" y="4883167"/>
            <a:ext cx="1425607" cy="2636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FC0B779F-2FA1-B0DA-8DD7-5A0CCC12C6B1}"/>
              </a:ext>
            </a:extLst>
          </p:cNvPr>
          <p:cNvSpPr txBox="1"/>
          <p:nvPr/>
        </p:nvSpPr>
        <p:spPr>
          <a:xfrm>
            <a:off x="5576564" y="5066380"/>
            <a:ext cx="2916314" cy="369332"/>
          </a:xfrm>
          <a:prstGeom prst="rect">
            <a:avLst/>
          </a:prstGeom>
          <a:noFill/>
        </p:spPr>
        <p:txBody>
          <a:bodyPr wrap="square" rtlCol="0">
            <a:spAutoFit/>
          </a:bodyPr>
          <a:lstStyle/>
          <a:p>
            <a:r>
              <a:rPr lang="en-US" dirty="0" err="1">
                <a:solidFill>
                  <a:srgbClr val="FF0000"/>
                </a:solidFill>
              </a:rPr>
              <a:t>Tipul</a:t>
            </a:r>
            <a:r>
              <a:rPr lang="en-US" dirty="0">
                <a:solidFill>
                  <a:srgbClr val="FF0000"/>
                </a:solidFill>
              </a:rPr>
              <a:t> de date</a:t>
            </a:r>
            <a:r>
              <a:rPr lang="ro-RO" dirty="0">
                <a:solidFill>
                  <a:srgbClr val="FF0000"/>
                </a:solidFill>
              </a:rPr>
              <a:t> </a:t>
            </a:r>
          </a:p>
        </p:txBody>
      </p:sp>
      <p:sp>
        <p:nvSpPr>
          <p:cNvPr id="42" name="TextBox 41">
            <a:extLst>
              <a:ext uri="{FF2B5EF4-FFF2-40B4-BE49-F238E27FC236}">
                <a16:creationId xmlns:a16="http://schemas.microsoft.com/office/drawing/2014/main" id="{A226CAA0-FD83-07EC-4F9C-FDC3BC16236B}"/>
              </a:ext>
            </a:extLst>
          </p:cNvPr>
          <p:cNvSpPr txBox="1"/>
          <p:nvPr/>
        </p:nvSpPr>
        <p:spPr>
          <a:xfrm>
            <a:off x="2716567" y="5379306"/>
            <a:ext cx="2361461" cy="369332"/>
          </a:xfrm>
          <a:prstGeom prst="rect">
            <a:avLst/>
          </a:prstGeom>
          <a:noFill/>
        </p:spPr>
        <p:txBody>
          <a:bodyPr wrap="square" rtlCol="0">
            <a:spAutoFit/>
          </a:bodyPr>
          <a:lstStyle/>
          <a:p>
            <a:r>
              <a:rPr lang="en-US" dirty="0" err="1">
                <a:solidFill>
                  <a:srgbClr val="FF0000"/>
                </a:solidFill>
              </a:rPr>
              <a:t>Denumirea</a:t>
            </a:r>
            <a:r>
              <a:rPr lang="en-US" dirty="0">
                <a:solidFill>
                  <a:srgbClr val="FF0000"/>
                </a:solidFill>
              </a:rPr>
              <a:t> </a:t>
            </a:r>
            <a:r>
              <a:rPr lang="en-US" dirty="0" err="1">
                <a:solidFill>
                  <a:srgbClr val="FF0000"/>
                </a:solidFill>
              </a:rPr>
              <a:t>coloanei</a:t>
            </a:r>
            <a:r>
              <a:rPr lang="ro-RO" dirty="0">
                <a:solidFill>
                  <a:srgbClr val="FF0000"/>
                </a:solidFill>
              </a:rPr>
              <a:t> </a:t>
            </a:r>
          </a:p>
        </p:txBody>
      </p:sp>
      <p:cxnSp>
        <p:nvCxnSpPr>
          <p:cNvPr id="43" name="Straight Arrow Connector 42">
            <a:extLst>
              <a:ext uri="{FF2B5EF4-FFF2-40B4-BE49-F238E27FC236}">
                <a16:creationId xmlns:a16="http://schemas.microsoft.com/office/drawing/2014/main" id="{60615E9C-295A-2175-D881-E1E18725188B}"/>
              </a:ext>
            </a:extLst>
          </p:cNvPr>
          <p:cNvCxnSpPr>
            <a:cxnSpLocks/>
          </p:cNvCxnSpPr>
          <p:nvPr/>
        </p:nvCxnSpPr>
        <p:spPr>
          <a:xfrm flipH="1" flipV="1">
            <a:off x="2356281" y="5073439"/>
            <a:ext cx="431307" cy="429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3863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FA31-D2FB-FCF0-C209-4271F3C354B0}"/>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263FD4E4-FBBD-0859-19EA-5FD2586D1186}"/>
              </a:ext>
            </a:extLst>
          </p:cNvPr>
          <p:cNvSpPr>
            <a:spLocks noGrp="1"/>
          </p:cNvSpPr>
          <p:nvPr>
            <p:ph idx="1"/>
          </p:nvPr>
        </p:nvSpPr>
        <p:spPr>
          <a:xfrm>
            <a:off x="1341120" y="1572768"/>
            <a:ext cx="9509760" cy="5147628"/>
          </a:xfrm>
        </p:spPr>
        <p:txBody>
          <a:bodyPr>
            <a:normAutofit/>
          </a:bodyPr>
          <a:lstStyle/>
          <a:p>
            <a:r>
              <a:rPr lang="ro-RO" dirty="0"/>
              <a:t>O altă variantă de creare a primului tabel din baza de date </a:t>
            </a:r>
            <a:r>
              <a:rPr lang="ro-RO" i="1" dirty="0"/>
              <a:t>ProblemaFilme</a:t>
            </a:r>
            <a:r>
              <a:rPr lang="ro-RO" dirty="0"/>
              <a:t>, folosind instrucțiunea </a:t>
            </a:r>
            <a:r>
              <a:rPr lang="ro-RO" b="1" i="1" dirty="0"/>
              <a:t>CREATE TABLE:</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Utilizatori</a:t>
            </a:r>
          </a:p>
          <a:p>
            <a:pPr marL="320040" lvl="1" indent="0">
              <a:buNone/>
            </a:pPr>
            <a:r>
              <a:rPr lang="ro-RO" i="0" dirty="0">
                <a:solidFill>
                  <a:srgbClr val="0000FF">
                    <a:alpha val="60000"/>
                  </a:srgbClr>
                </a:solidFill>
                <a:latin typeface="Consolas" panose="020B0609020204030204" pitchFamily="49" charset="0"/>
              </a:rPr>
              <a:t>	</a:t>
            </a:r>
            <a:r>
              <a:rPr lang="en-US" i="0" dirty="0">
                <a:solidFill>
                  <a:srgbClr val="0000FF">
                    <a:alpha val="60000"/>
                  </a:srgbClr>
                </a:solidFill>
                <a:latin typeface="Consolas" panose="020B0609020204030204" pitchFamily="49" charset="0"/>
              </a:rPr>
              <a:t>CREATE TABLE </a:t>
            </a:r>
            <a:r>
              <a:rPr lang="en-US" i="0" dirty="0" err="1">
                <a:latin typeface="Consolas" panose="020B0609020204030204" pitchFamily="49" charset="0"/>
              </a:rPr>
              <a:t>Utilizatori</a:t>
            </a:r>
            <a:endParaRPr lang="ro-RO" i="0" dirty="0">
              <a:latin typeface="Consolas" panose="020B0609020204030204" pitchFamily="49" charset="0"/>
            </a:endParaRPr>
          </a:p>
          <a:p>
            <a:pPr marL="320040" lvl="1" indent="0">
              <a:buNone/>
            </a:pPr>
            <a:r>
              <a:rPr lang="ro-RO" dirty="0">
                <a:latin typeface="Consolas" panose="020B0609020204030204" pitchFamily="49" charset="0"/>
              </a:rPr>
              <a:t>	</a:t>
            </a:r>
            <a:r>
              <a:rPr lang="en-US" dirty="0">
                <a:latin typeface="Consolas" panose="020B0609020204030204" pitchFamily="49" charset="0"/>
              </a:rPr>
              <a:t>(</a:t>
            </a:r>
            <a:r>
              <a:rPr lang="en-US" i="0" dirty="0" err="1">
                <a:latin typeface="Consolas" panose="020B0609020204030204" pitchFamily="49" charset="0"/>
              </a:rPr>
              <a:t>cod_u</a:t>
            </a:r>
            <a:r>
              <a:rPr lang="en-US" dirty="0">
                <a:latin typeface="Consolas" panose="020B0609020204030204" pitchFamily="49" charset="0"/>
              </a:rPr>
              <a:t> </a:t>
            </a:r>
            <a:r>
              <a:rPr lang="en-US" i="0" dirty="0">
                <a:solidFill>
                  <a:srgbClr val="0000FF">
                    <a:alpha val="60000"/>
                  </a:srgbClr>
                </a:solidFill>
                <a:latin typeface="Consolas" panose="020B0609020204030204" pitchFamily="49" charset="0"/>
              </a:rPr>
              <a:t>INT </a:t>
            </a:r>
            <a:r>
              <a:rPr lang="en-US" i="0" dirty="0">
                <a:solidFill>
                  <a:srgbClr val="0000FF">
                    <a:alpha val="60000"/>
                  </a:srgbClr>
                </a:solidFill>
                <a:highlight>
                  <a:srgbClr val="00FF00"/>
                </a:highlight>
                <a:latin typeface="Consolas" panose="020B0609020204030204" pitchFamily="49" charset="0"/>
              </a:rPr>
              <a:t>IDENTITY</a:t>
            </a:r>
            <a:r>
              <a:rPr lang="ro-RO" i="0" dirty="0">
                <a:solidFill>
                  <a:srgbClr val="0000FF">
                    <a:alpha val="60000"/>
                  </a:srgbClr>
                </a:solidFill>
                <a:highlight>
                  <a:srgbClr val="00FF00"/>
                </a:highlight>
                <a:latin typeface="Consolas" panose="020B0609020204030204" pitchFamily="49" charset="0"/>
              </a:rPr>
              <a:t>(1,1)</a:t>
            </a:r>
            <a:r>
              <a:rPr lang="en-US"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nume_u</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 </a:t>
            </a:r>
            <a:r>
              <a:rPr lang="en-US" sz="1800" dirty="0">
                <a:solidFill>
                  <a:srgbClr val="0000FF">
                    <a:alpha val="60000"/>
                  </a:srgbClr>
                </a:solidFill>
                <a:highlight>
                  <a:srgbClr val="FFFF00"/>
                </a:highlight>
                <a:latin typeface="Consolas" panose="020B0609020204030204" pitchFamily="49" charset="0"/>
              </a:rPr>
              <a:t>NOT NULL</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parola</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a:latin typeface="Consolas" panose="020B0609020204030204" pitchFamily="49" charset="0"/>
              </a:rPr>
              <a:t>email </a:t>
            </a:r>
            <a:r>
              <a:rPr lang="en-US" sz="1800" dirty="0">
                <a:solidFill>
                  <a:srgbClr val="0000FF">
                    <a:alpha val="60000"/>
                  </a:srgbClr>
                </a:solidFill>
                <a:latin typeface="Consolas" panose="020B0609020204030204" pitchFamily="49" charset="0"/>
              </a:rPr>
              <a:t>VARCHAR(100)</a:t>
            </a:r>
            <a:r>
              <a:rPr lang="ro-RO" sz="1800" dirty="0">
                <a:solidFill>
                  <a:srgbClr val="0000FF">
                    <a:alpha val="60000"/>
                  </a:srgbClr>
                </a:solidFill>
                <a:latin typeface="Consolas" panose="020B0609020204030204" pitchFamily="49" charset="0"/>
              </a:rPr>
              <a:t>,</a:t>
            </a:r>
          </a:p>
          <a:p>
            <a:pPr marL="0" indent="0">
              <a:buNone/>
            </a:pPr>
            <a:r>
              <a:rPr lang="ro-RO" sz="1800" dirty="0">
                <a:solidFill>
                  <a:srgbClr val="0000FF">
                    <a:alpha val="60000"/>
                  </a:srgbClr>
                </a:solidFill>
                <a:latin typeface="Consolas" panose="020B0609020204030204" pitchFamily="49" charset="0"/>
              </a:rPr>
              <a:t>	</a:t>
            </a:r>
            <a:r>
              <a:rPr lang="ro-RO" sz="1800" dirty="0">
                <a:solidFill>
                  <a:srgbClr val="0000FF">
                    <a:alpha val="60000"/>
                  </a:srgbClr>
                </a:solidFill>
                <a:highlight>
                  <a:srgbClr val="FFFF00"/>
                </a:highlight>
                <a:latin typeface="Consolas" panose="020B0609020204030204" pitchFamily="49" charset="0"/>
              </a:rPr>
              <a:t>CONSTRAINT</a:t>
            </a:r>
            <a:r>
              <a:rPr lang="ro-RO" sz="1800" dirty="0">
                <a:highlight>
                  <a:srgbClr val="FFFF00"/>
                </a:highlight>
                <a:latin typeface="Consolas" panose="020B0609020204030204" pitchFamily="49" charset="0"/>
              </a:rPr>
              <a:t> pk_Utilizatori </a:t>
            </a:r>
            <a:r>
              <a:rPr lang="ro-RO" sz="1800" dirty="0">
                <a:solidFill>
                  <a:srgbClr val="0000FF">
                    <a:alpha val="60000"/>
                  </a:srgbClr>
                </a:solidFill>
                <a:highlight>
                  <a:srgbClr val="FFFF00"/>
                </a:highlight>
                <a:latin typeface="Consolas" panose="020B0609020204030204" pitchFamily="49" charset="0"/>
              </a:rPr>
              <a:t>PRIMARY KEY </a:t>
            </a:r>
            <a:r>
              <a:rPr lang="ro-RO" sz="1800" dirty="0">
                <a:highlight>
                  <a:srgbClr val="FFFF00"/>
                </a:highlight>
                <a:latin typeface="Consolas" panose="020B0609020204030204" pitchFamily="49" charset="0"/>
              </a:rPr>
              <a:t>(cod_u),</a:t>
            </a:r>
          </a:p>
          <a:p>
            <a:pPr marL="0" indent="0">
              <a:buNone/>
            </a:pPr>
            <a:r>
              <a:rPr lang="ro-RO" sz="1800" dirty="0">
                <a:solidFill>
                  <a:srgbClr val="0000FF">
                    <a:alpha val="60000"/>
                  </a:srgbClr>
                </a:solidFill>
                <a:latin typeface="Consolas" panose="020B0609020204030204" pitchFamily="49" charset="0"/>
              </a:rPr>
              <a:t>	</a:t>
            </a:r>
            <a:r>
              <a:rPr lang="ro-RO" sz="1800" dirty="0">
                <a:solidFill>
                  <a:srgbClr val="0000FF">
                    <a:alpha val="60000"/>
                  </a:srgbClr>
                </a:solidFill>
                <a:highlight>
                  <a:srgbClr val="FFFF00"/>
                </a:highlight>
                <a:latin typeface="Consolas" panose="020B0609020204030204" pitchFamily="49" charset="0"/>
              </a:rPr>
              <a:t>CONSTRAINT</a:t>
            </a:r>
            <a:r>
              <a:rPr lang="ro-RO" sz="1800" dirty="0">
                <a:highlight>
                  <a:srgbClr val="FFFF00"/>
                </a:highlight>
                <a:latin typeface="Consolas" panose="020B0609020204030204" pitchFamily="49" charset="0"/>
              </a:rPr>
              <a:t> uq_nume_u</a:t>
            </a:r>
            <a:r>
              <a:rPr lang="ro-RO" sz="1800" dirty="0">
                <a:solidFill>
                  <a:srgbClr val="0000FF">
                    <a:alpha val="60000"/>
                  </a:srgbClr>
                </a:solidFill>
                <a:highlight>
                  <a:srgbClr val="FFFF00"/>
                </a:highlight>
                <a:latin typeface="Consolas" panose="020B0609020204030204" pitchFamily="49" charset="0"/>
              </a:rPr>
              <a:t> UNIQUE </a:t>
            </a:r>
            <a:r>
              <a:rPr lang="ro-RO" sz="1800" dirty="0">
                <a:highlight>
                  <a:srgbClr val="FFFF00"/>
                </a:highlight>
                <a:latin typeface="Consolas" panose="020B0609020204030204" pitchFamily="49" charset="0"/>
              </a:rPr>
              <a:t>(nume_u)</a:t>
            </a:r>
            <a:endParaRPr lang="en-US" sz="1800" dirty="0">
              <a:highlight>
                <a:srgbClr val="FFFF00"/>
              </a:highlight>
              <a:latin typeface="Consolas" panose="020B0609020204030204" pitchFamily="49" charset="0"/>
            </a:endParaRPr>
          </a:p>
          <a:p>
            <a:pPr marL="0" indent="0">
              <a:buNone/>
            </a:pPr>
            <a:r>
              <a:rPr lang="ro-RO" sz="1800" dirty="0">
                <a:latin typeface="Consolas" panose="020B0609020204030204" pitchFamily="49" charset="0"/>
              </a:rPr>
              <a:t>	</a:t>
            </a:r>
            <a:r>
              <a:rPr lang="en-US" sz="1800" dirty="0">
                <a:latin typeface="Consolas" panose="020B0609020204030204" pitchFamily="49" charset="0"/>
              </a:rPr>
              <a:t>);</a:t>
            </a:r>
          </a:p>
          <a:p>
            <a:endParaRPr lang="ro-RO" dirty="0"/>
          </a:p>
        </p:txBody>
      </p:sp>
    </p:spTree>
    <p:extLst>
      <p:ext uri="{BB962C8B-B14F-4D97-AF65-F5344CB8AC3E}">
        <p14:creationId xmlns:p14="http://schemas.microsoft.com/office/powerpoint/2010/main" val="34075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39E79-1BA1-0A91-0DCF-87E611C614B2}"/>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CE6A7451-FBB0-63E5-FB8E-76EAFA88195D}"/>
              </a:ext>
            </a:extLst>
          </p:cNvPr>
          <p:cNvSpPr>
            <a:spLocks noGrp="1"/>
          </p:cNvSpPr>
          <p:nvPr>
            <p:ph idx="1"/>
          </p:nvPr>
        </p:nvSpPr>
        <p:spPr>
          <a:xfrm>
            <a:off x="989399" y="1685925"/>
            <a:ext cx="11093109" cy="4936817"/>
          </a:xfrm>
        </p:spPr>
        <p:txBody>
          <a:bodyPr/>
          <a:lstStyle/>
          <a:p>
            <a:r>
              <a:rPr lang="ro-RO" dirty="0"/>
              <a:t>Fiecare tabel va conține mai multe coloane, iar fiecare </a:t>
            </a:r>
            <a:r>
              <a:rPr lang="ro-RO" b="1" dirty="0"/>
              <a:t>coloană</a:t>
            </a:r>
            <a:r>
              <a:rPr lang="ro-RO" dirty="0"/>
              <a:t> va avea un </a:t>
            </a:r>
            <a:r>
              <a:rPr lang="ro-RO" b="1" dirty="0"/>
              <a:t>tip de date</a:t>
            </a:r>
          </a:p>
          <a:p>
            <a:r>
              <a:rPr lang="ro-RO" dirty="0"/>
              <a:t>Fiecare tabel va avea un </a:t>
            </a:r>
            <a:r>
              <a:rPr lang="ro-RO" b="1" dirty="0"/>
              <a:t>identificator unic</a:t>
            </a:r>
            <a:r>
              <a:rPr lang="ro-RO" dirty="0"/>
              <a:t>, asigurat prin definirea unei </a:t>
            </a:r>
            <a:r>
              <a:rPr lang="ro-RO" b="1" dirty="0"/>
              <a:t>constrângeri</a:t>
            </a:r>
            <a:r>
              <a:rPr lang="ro-RO" dirty="0"/>
              <a:t> </a:t>
            </a:r>
            <a:r>
              <a:rPr lang="ro-RO" b="1" dirty="0"/>
              <a:t>PRIMARY KEY </a:t>
            </a:r>
            <a:r>
              <a:rPr lang="ro-RO" dirty="0"/>
              <a:t>pe tabel (aceasta poate fi definită pe una sau mai multe coloane)</a:t>
            </a:r>
          </a:p>
          <a:p>
            <a:r>
              <a:rPr lang="ro-RO" dirty="0"/>
              <a:t>În cazul în care avem o </a:t>
            </a:r>
            <a:r>
              <a:rPr lang="ro-RO" b="1" dirty="0"/>
              <a:t>constrângere</a:t>
            </a:r>
            <a:r>
              <a:rPr lang="ro-RO" dirty="0"/>
              <a:t> </a:t>
            </a:r>
            <a:r>
              <a:rPr lang="ro-RO" b="1" dirty="0"/>
              <a:t>PRIMARY KEY </a:t>
            </a:r>
            <a:r>
              <a:rPr lang="ro-RO" dirty="0"/>
              <a:t>definită pe o singură coloană de tipul </a:t>
            </a:r>
            <a:r>
              <a:rPr lang="ro-RO" i="1" dirty="0"/>
              <a:t>INT</a:t>
            </a:r>
            <a:r>
              <a:rPr lang="ro-RO" dirty="0"/>
              <a:t>, putem folosi </a:t>
            </a:r>
            <a:r>
              <a:rPr lang="ro-RO" b="1" dirty="0"/>
              <a:t>proprietatea IDENTITY </a:t>
            </a:r>
            <a:r>
              <a:rPr lang="ro-RO" dirty="0"/>
              <a:t>pentru a genera valori unice în mod automat pentru această coloană</a:t>
            </a:r>
          </a:p>
          <a:p>
            <a:r>
              <a:rPr lang="ro-RO" dirty="0"/>
              <a:t>Dacă </a:t>
            </a:r>
            <a:r>
              <a:rPr lang="ro-RO" b="1" dirty="0"/>
              <a:t>nu</a:t>
            </a:r>
            <a:r>
              <a:rPr lang="ro-RO" dirty="0"/>
              <a:t> dorim să permitem introducerea de valori </a:t>
            </a:r>
            <a:r>
              <a:rPr lang="ro-RO" i="1" dirty="0"/>
              <a:t>NULL</a:t>
            </a:r>
            <a:r>
              <a:rPr lang="ro-RO" dirty="0"/>
              <a:t> pentru o coloană, aplicăm </a:t>
            </a:r>
            <a:r>
              <a:rPr lang="ro-RO" b="1" dirty="0"/>
              <a:t>constrângerea NOT NULL </a:t>
            </a:r>
            <a:r>
              <a:rPr lang="ro-RO" dirty="0"/>
              <a:t>pe coloana respectivă</a:t>
            </a:r>
          </a:p>
        </p:txBody>
      </p:sp>
    </p:spTree>
    <p:extLst>
      <p:ext uri="{BB962C8B-B14F-4D97-AF65-F5344CB8AC3E}">
        <p14:creationId xmlns:p14="http://schemas.microsoft.com/office/powerpoint/2010/main" val="123423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54BF-C538-CCC1-08FE-E8179F4A3FDE}"/>
              </a:ext>
            </a:extLst>
          </p:cNvPr>
          <p:cNvSpPr>
            <a:spLocks noGrp="1"/>
          </p:cNvSpPr>
          <p:nvPr>
            <p:ph type="title"/>
          </p:nvPr>
        </p:nvSpPr>
        <p:spPr/>
        <p:txBody>
          <a:bodyPr/>
          <a:lstStyle/>
          <a:p>
            <a:r>
              <a:rPr lang="ro-RO" dirty="0">
                <a:latin typeface="+mn-lt"/>
              </a:rPr>
              <a:t>Observații</a:t>
            </a:r>
            <a:endParaRPr lang="ro-RO" dirty="0"/>
          </a:p>
        </p:txBody>
      </p:sp>
      <p:sp>
        <p:nvSpPr>
          <p:cNvPr id="3" name="Content Placeholder 2">
            <a:extLst>
              <a:ext uri="{FF2B5EF4-FFF2-40B4-BE49-F238E27FC236}">
                <a16:creationId xmlns:a16="http://schemas.microsoft.com/office/drawing/2014/main" id="{98F068E2-2D14-702B-EC7F-4BB4FB5E8420}"/>
              </a:ext>
            </a:extLst>
          </p:cNvPr>
          <p:cNvSpPr>
            <a:spLocks noGrp="1"/>
          </p:cNvSpPr>
          <p:nvPr>
            <p:ph idx="1"/>
          </p:nvPr>
        </p:nvSpPr>
        <p:spPr>
          <a:xfrm>
            <a:off x="989400" y="1685925"/>
            <a:ext cx="10791268" cy="4945694"/>
          </a:xfrm>
        </p:spPr>
        <p:txBody>
          <a:bodyPr/>
          <a:lstStyle/>
          <a:p>
            <a:r>
              <a:rPr lang="ro-RO" b="1" dirty="0"/>
              <a:t>Constrângerea UNIQUE </a:t>
            </a:r>
            <a:r>
              <a:rPr lang="ro-RO" dirty="0"/>
              <a:t>asigură unicitatea valorilor la nivelul coloanei sau combinației de coloane pe care este definită </a:t>
            </a:r>
          </a:p>
          <a:p>
            <a:r>
              <a:rPr lang="ro-RO" dirty="0"/>
              <a:t>Se pot defini mai multe </a:t>
            </a:r>
            <a:r>
              <a:rPr lang="ro-RO" b="1" dirty="0"/>
              <a:t>constrângeri UNIQUE </a:t>
            </a:r>
            <a:r>
              <a:rPr lang="ro-RO" dirty="0"/>
              <a:t>pe un tabel, dar doar o </a:t>
            </a:r>
            <a:r>
              <a:rPr lang="ro-RO" b="1" dirty="0"/>
              <a:t>singură constrângere PRIMARY KEY</a:t>
            </a:r>
          </a:p>
          <a:p>
            <a:r>
              <a:rPr lang="ro-RO" dirty="0"/>
              <a:t>Nu se pot specifica valori duplicate sau </a:t>
            </a:r>
            <a:r>
              <a:rPr lang="ro-RO" i="1" dirty="0"/>
              <a:t>NULL</a:t>
            </a:r>
            <a:r>
              <a:rPr lang="ro-RO" dirty="0"/>
              <a:t> pentru coloanele pe care a fost definită o </a:t>
            </a:r>
            <a:r>
              <a:rPr lang="ro-RO" b="1" dirty="0"/>
              <a:t>constrângere PRIMARY KEY </a:t>
            </a:r>
          </a:p>
          <a:p>
            <a:r>
              <a:rPr lang="ro-RO" b="1" dirty="0"/>
              <a:t>Proprietatea IDENTITY(</a:t>
            </a:r>
            <a:r>
              <a:rPr lang="ro-RO" b="1" i="1" dirty="0"/>
              <a:t>seed</a:t>
            </a:r>
            <a:r>
              <a:rPr lang="ro-RO" b="1" dirty="0"/>
              <a:t>, </a:t>
            </a:r>
            <a:r>
              <a:rPr lang="ro-RO" b="1" i="1" dirty="0"/>
              <a:t>increment</a:t>
            </a:r>
            <a:r>
              <a:rPr lang="ro-RO" b="1" dirty="0"/>
              <a:t>):</a:t>
            </a:r>
          </a:p>
          <a:p>
            <a:pPr lvl="1"/>
            <a:r>
              <a:rPr lang="ro-RO" sz="2000" b="1" dirty="0"/>
              <a:t>seed</a:t>
            </a:r>
            <a:r>
              <a:rPr lang="ro-RO" sz="2000" dirty="0"/>
              <a:t> reprezintă valoarea folosită la inserarea primei înregistrări din tabel</a:t>
            </a:r>
          </a:p>
          <a:p>
            <a:pPr lvl="1"/>
            <a:r>
              <a:rPr lang="ro-RO" sz="2000" b="1" dirty="0"/>
              <a:t>increment</a:t>
            </a:r>
            <a:r>
              <a:rPr lang="ro-RO" sz="2000" dirty="0"/>
              <a:t> reprezintă valoarea care se adaugă la valoarea </a:t>
            </a:r>
            <a:r>
              <a:rPr lang="ro-RO" sz="2000" i="1" dirty="0"/>
              <a:t>identity</a:t>
            </a:r>
            <a:r>
              <a:rPr lang="ro-RO" sz="2000" dirty="0"/>
              <a:t> generată pentru ultima înregistrare inserată în tabel </a:t>
            </a:r>
            <a:endParaRPr lang="en-US" sz="2000" dirty="0"/>
          </a:p>
          <a:p>
            <a:endParaRPr lang="ro-RO" b="1" dirty="0"/>
          </a:p>
          <a:p>
            <a:endParaRPr lang="ro-RO" b="1" dirty="0"/>
          </a:p>
        </p:txBody>
      </p:sp>
    </p:spTree>
    <p:extLst>
      <p:ext uri="{BB962C8B-B14F-4D97-AF65-F5344CB8AC3E}">
        <p14:creationId xmlns:p14="http://schemas.microsoft.com/office/powerpoint/2010/main" val="221787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4"/>
            <a:ext cx="10569326" cy="5172076"/>
          </a:xfrm>
        </p:spPr>
        <p:txBody>
          <a:bodyPr>
            <a:normAutofit/>
          </a:bodyPr>
          <a:lstStyle/>
          <a:p>
            <a:r>
              <a:rPr lang="ro-RO" dirty="0"/>
              <a:t>În continuare, se va crea tabelul </a:t>
            </a:r>
            <a:r>
              <a:rPr lang="ro-RO" i="1" dirty="0"/>
              <a:t>Companii</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Companii</a:t>
            </a:r>
          </a:p>
          <a:p>
            <a:pPr marL="0" indent="0">
              <a:buNone/>
            </a:pPr>
            <a:r>
              <a:rPr lang="ro-RO" dirty="0"/>
              <a:t>	</a:t>
            </a:r>
            <a:r>
              <a:rPr lang="en-US" dirty="0">
                <a:solidFill>
                  <a:srgbClr val="0000FF">
                    <a:alpha val="60000"/>
                  </a:srgbClr>
                </a:solidFill>
                <a:latin typeface="Consolas" panose="020B0609020204030204" pitchFamily="49" charset="0"/>
              </a:rPr>
              <a:t>CREATE TABLE </a:t>
            </a:r>
            <a:r>
              <a:rPr lang="en-US" dirty="0" err="1">
                <a:latin typeface="Consolas" panose="020B0609020204030204" pitchFamily="49" charset="0"/>
              </a:rPr>
              <a:t>Companii</a:t>
            </a:r>
            <a:endParaRPr lang="en-US"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cod_c</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INT </a:t>
            </a:r>
            <a:r>
              <a:rPr lang="en-US" dirty="0">
                <a:solidFill>
                  <a:srgbClr val="0000FF">
                    <a:alpha val="60000"/>
                  </a:srgbClr>
                </a:solidFill>
                <a:highlight>
                  <a:srgbClr val="FFFF00"/>
                </a:highlight>
                <a:latin typeface="Consolas" panose="020B0609020204030204" pitchFamily="49" charset="0"/>
              </a:rPr>
              <a:t>PRIMARY KEY</a:t>
            </a:r>
            <a:r>
              <a:rPr lang="en-US" dirty="0">
                <a:solidFill>
                  <a:srgbClr val="0000FF">
                    <a:alpha val="60000"/>
                  </a:srgbClr>
                </a:solidFill>
                <a:latin typeface="Consolas" panose="020B0609020204030204" pitchFamily="49" charset="0"/>
              </a:rPr>
              <a:t> </a:t>
            </a:r>
            <a:r>
              <a:rPr lang="en-US" dirty="0">
                <a:solidFill>
                  <a:srgbClr val="0000FF">
                    <a:alpha val="60000"/>
                  </a:srgbClr>
                </a:solidFill>
                <a:highlight>
                  <a:srgbClr val="00FF00"/>
                </a:highlight>
                <a:latin typeface="Consolas" panose="020B0609020204030204" pitchFamily="49" charset="0"/>
              </a:rPr>
              <a:t>IDENTITY</a:t>
            </a:r>
            <a:r>
              <a:rPr lang="ro-RO" dirty="0">
                <a:solidFill>
                  <a:srgbClr val="0000FF">
                    <a:alpha val="60000"/>
                  </a:srgbClr>
                </a:solidFill>
                <a:highlight>
                  <a:srgbClr val="00FF00"/>
                </a:highlight>
                <a:latin typeface="Consolas" panose="020B0609020204030204" pitchFamily="49" charset="0"/>
              </a:rPr>
              <a:t>(1,1)</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err="1">
                <a:latin typeface="Consolas" panose="020B0609020204030204" pitchFamily="49" charset="0"/>
              </a:rPr>
              <a:t>nume_c</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NVARCHAR(100)</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err="1">
                <a:latin typeface="Consolas" panose="020B0609020204030204" pitchFamily="49" charset="0"/>
              </a:rPr>
              <a:t>tara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NVARCHAR(100)</a:t>
            </a:r>
          </a:p>
          <a:p>
            <a:pPr marL="0" indent="0">
              <a:buNone/>
            </a:pPr>
            <a:r>
              <a:rPr lang="ro-RO" dirty="0">
                <a:latin typeface="Consolas" panose="020B0609020204030204" pitchFamily="49" charset="0"/>
              </a:rPr>
              <a:t>	</a:t>
            </a:r>
            <a:r>
              <a:rPr lang="en-US" dirty="0">
                <a:latin typeface="Consolas" panose="020B0609020204030204" pitchFamily="49" charset="0"/>
              </a:rPr>
              <a:t>);</a:t>
            </a:r>
            <a:endParaRPr lang="ro-RO" dirty="0">
              <a:latin typeface="Consolas" panose="020B0609020204030204" pitchFamily="49" charset="0"/>
            </a:endParaRPr>
          </a:p>
        </p:txBody>
      </p:sp>
    </p:spTree>
    <p:extLst>
      <p:ext uri="{BB962C8B-B14F-4D97-AF65-F5344CB8AC3E}">
        <p14:creationId xmlns:p14="http://schemas.microsoft.com/office/powerpoint/2010/main" val="2225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Apoi, se va crea tabelul </a:t>
            </a:r>
            <a:r>
              <a:rPr lang="en-US" i="1" dirty="0" err="1"/>
              <a:t>Filme</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en-US" dirty="0" err="1">
                <a:solidFill>
                  <a:schemeClr val="accent1">
                    <a:lumMod val="75000"/>
                    <a:alpha val="60000"/>
                  </a:schemeClr>
                </a:solidFill>
              </a:rPr>
              <a:t>Filme</a:t>
            </a:r>
            <a:endParaRPr lang="en-US" dirty="0">
              <a:solidFill>
                <a:schemeClr val="accent1">
                  <a:lumMod val="75000"/>
                  <a:alpha val="60000"/>
                </a:schemeClr>
              </a:solidFill>
              <a:latin typeface="Consolas" panose="020B0609020204030204" pitchFamily="49" charset="0"/>
            </a:endParaRPr>
          </a:p>
          <a:p>
            <a:pPr marL="0" indent="0">
              <a:buNone/>
            </a:pPr>
            <a:r>
              <a:rPr lang="en-US"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Filme</a:t>
            </a:r>
          </a:p>
          <a:p>
            <a:pPr marL="0" indent="0">
              <a:buNone/>
            </a:pPr>
            <a:r>
              <a:rPr lang="en-US" dirty="0">
                <a:latin typeface="Consolas" panose="020B0609020204030204" pitchFamily="49" charset="0"/>
              </a:rPr>
              <a:t>	</a:t>
            </a:r>
            <a:r>
              <a:rPr lang="ro-RO" dirty="0">
                <a:latin typeface="Consolas" panose="020B0609020204030204" pitchFamily="49" charset="0"/>
              </a:rPr>
              <a:t>(cod_f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PRIMARY KEY</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00FF00"/>
                </a:highlight>
                <a:latin typeface="Consolas" panose="020B0609020204030204" pitchFamily="49" charset="0"/>
              </a:rPr>
              <a:t>IDENTITY</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durata </a:t>
            </a:r>
            <a:r>
              <a:rPr lang="ro-RO" dirty="0">
                <a:solidFill>
                  <a:srgbClr val="0000FF">
                    <a:alpha val="60000"/>
                  </a:srgbClr>
                </a:solidFill>
                <a:latin typeface="Consolas" panose="020B0609020204030204" pitchFamily="49" charset="0"/>
              </a:rPr>
              <a:t>TIME</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limba </a:t>
            </a:r>
            <a:r>
              <a:rPr lang="ro-RO" dirty="0">
                <a:solidFill>
                  <a:srgbClr val="0000FF">
                    <a:alpha val="60000"/>
                  </a:srgbClr>
                </a:solidFill>
                <a:latin typeface="Consolas" panose="020B0609020204030204" pitchFamily="49" charset="0"/>
              </a:rPr>
              <a:t>NVARCHAR(100)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cod_c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ro-RO" dirty="0">
                <a:highlight>
                  <a:srgbClr val="FFFF00"/>
                </a:highlight>
                <a:latin typeface="Consolas" panose="020B0609020204030204" pitchFamily="49" charset="0"/>
              </a:rPr>
              <a:t> Companii(cod_c) </a:t>
            </a:r>
            <a:r>
              <a:rPr lang="ro-RO" dirty="0">
                <a:solidFill>
                  <a:srgbClr val="0000FF">
                    <a:alpha val="60000"/>
                  </a:srgbClr>
                </a:solidFill>
                <a:highlight>
                  <a:srgbClr val="FFFF00"/>
                </a:highlight>
                <a:latin typeface="Consolas" panose="020B0609020204030204" pitchFamily="49" charset="0"/>
              </a:rPr>
              <a:t>ON</a:t>
            </a:r>
            <a:r>
              <a:rPr lang="ro-RO" dirty="0">
                <a:highlight>
                  <a:srgbClr val="FFFF00"/>
                </a:highlight>
                <a:latin typeface="Consolas" panose="020B0609020204030204" pitchFamily="49" charset="0"/>
              </a:rPr>
              <a:t> </a:t>
            </a:r>
            <a:r>
              <a:rPr lang="ro-RO" dirty="0">
                <a:solidFill>
                  <a:srgbClr val="FF00FF">
                    <a:alpha val="60000"/>
                  </a:srgbClr>
                </a:solidFill>
                <a:highlight>
                  <a:srgbClr val="FFFF00"/>
                </a:highlight>
                <a:latin typeface="Consolas" panose="020B0609020204030204" pitchFamily="49" charset="0"/>
              </a:rPr>
              <a:t>UPDATE</a:t>
            </a:r>
            <a:r>
              <a:rPr lang="ro-RO" dirty="0">
                <a:highlight>
                  <a:srgbClr val="FFFF00"/>
                </a:highlight>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CASCADE</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ON DELETE CASCADE</a:t>
            </a:r>
          </a:p>
          <a:p>
            <a:pPr marL="0" indent="0">
              <a:buNone/>
            </a:pPr>
            <a:r>
              <a:rPr lang="en-US" dirty="0">
                <a:latin typeface="Consolas" panose="020B0609020204030204" pitchFamily="49" charset="0"/>
              </a:rPr>
              <a:t>	</a:t>
            </a:r>
            <a:r>
              <a:rPr lang="ro-RO" dirty="0">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C258103C-A170-FE96-3017-808CFCE3873A}"/>
              </a:ext>
            </a:extLst>
          </p:cNvPr>
          <p:cNvCxnSpPr>
            <a:cxnSpLocks/>
          </p:cNvCxnSpPr>
          <p:nvPr/>
        </p:nvCxnSpPr>
        <p:spPr>
          <a:xfrm flipH="1">
            <a:off x="6096000" y="4791806"/>
            <a:ext cx="739806" cy="488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0B7C7D4-0774-BF01-4D28-F969B77961A6}"/>
              </a:ext>
            </a:extLst>
          </p:cNvPr>
          <p:cNvSpPr txBox="1"/>
          <p:nvPr/>
        </p:nvSpPr>
        <p:spPr>
          <a:xfrm>
            <a:off x="6835806" y="4518240"/>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Tree>
    <p:extLst>
      <p:ext uri="{BB962C8B-B14F-4D97-AF65-F5344CB8AC3E}">
        <p14:creationId xmlns:p14="http://schemas.microsoft.com/office/powerpoint/2010/main" val="270926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fontScale="92500" lnSpcReduction="10000"/>
          </a:bodyPr>
          <a:lstStyle/>
          <a:p>
            <a:r>
              <a:rPr lang="ro-RO" dirty="0"/>
              <a:t>O altă variantă de a crea tabelul </a:t>
            </a:r>
            <a:r>
              <a:rPr lang="en-US" i="1" dirty="0" err="1"/>
              <a:t>Filme</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en-US" dirty="0" err="1">
                <a:solidFill>
                  <a:schemeClr val="accent1">
                    <a:lumMod val="75000"/>
                    <a:alpha val="60000"/>
                  </a:schemeClr>
                </a:solidFill>
              </a:rPr>
              <a:t>Filme</a:t>
            </a:r>
            <a:endParaRPr lang="en-US" dirty="0">
              <a:solidFill>
                <a:schemeClr val="accent1">
                  <a:lumMod val="75000"/>
                  <a:alpha val="60000"/>
                </a:schemeClr>
              </a:solidFill>
              <a:latin typeface="Consolas" panose="020B0609020204030204" pitchFamily="49" charset="0"/>
            </a:endParaRPr>
          </a:p>
          <a:p>
            <a:pPr marL="0" indent="0">
              <a:buNone/>
            </a:pPr>
            <a:r>
              <a:rPr lang="en-US"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Filme</a:t>
            </a:r>
          </a:p>
          <a:p>
            <a:pPr marL="0" indent="0">
              <a:buNone/>
            </a:pPr>
            <a:r>
              <a:rPr lang="en-US" dirty="0">
                <a:latin typeface="Consolas" panose="020B0609020204030204" pitchFamily="49" charset="0"/>
              </a:rPr>
              <a:t>	</a:t>
            </a:r>
            <a:r>
              <a:rPr lang="ro-RO" dirty="0">
                <a:latin typeface="Consolas" panose="020B0609020204030204" pitchFamily="49" charset="0"/>
              </a:rPr>
              <a:t>(cod_f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PRIMARY KEY</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00FF00"/>
                </a:highlight>
                <a:latin typeface="Consolas" panose="020B0609020204030204" pitchFamily="49" charset="0"/>
              </a:rPr>
              <a:t>IDENTITY</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durata </a:t>
            </a:r>
            <a:r>
              <a:rPr lang="ro-RO" dirty="0">
                <a:solidFill>
                  <a:srgbClr val="0000FF">
                    <a:alpha val="60000"/>
                  </a:srgbClr>
                </a:solidFill>
                <a:latin typeface="Consolas" panose="020B0609020204030204" pitchFamily="49" charset="0"/>
              </a:rPr>
              <a:t>TIME</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limba </a:t>
            </a:r>
            <a:r>
              <a:rPr lang="ro-RO" dirty="0">
                <a:solidFill>
                  <a:srgbClr val="0000FF">
                    <a:alpha val="60000"/>
                  </a:srgbClr>
                </a:solidFill>
                <a:latin typeface="Consolas" panose="020B0609020204030204" pitchFamily="49" charset="0"/>
              </a:rPr>
              <a:t>NVARCHAR(100)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cod_c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endParaRPr lang="ro-RO" dirty="0">
              <a:solidFill>
                <a:srgbClr val="0000FF">
                  <a:alpha val="60000"/>
                </a:srgbClr>
              </a:solidFill>
              <a:latin typeface="Consolas" panose="020B0609020204030204" pitchFamily="49" charset="0"/>
            </a:endParaRPr>
          </a:p>
          <a:p>
            <a:pPr marL="0" indent="0">
              <a:buNone/>
            </a:pP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 </a:t>
            </a:r>
            <a:r>
              <a:rPr lang="ro-RO" sz="2100" dirty="0">
                <a:highlight>
                  <a:srgbClr val="FFFF00"/>
                </a:highlight>
                <a:latin typeface="Consolas" panose="020B0609020204030204" pitchFamily="49" charset="0"/>
              </a:rPr>
              <a:t>fk_CompaniiFilme </a:t>
            </a:r>
            <a:r>
              <a:rPr lang="ro-RO" dirty="0">
                <a:solidFill>
                  <a:srgbClr val="0000FF">
                    <a:alpha val="60000"/>
                  </a:srgbClr>
                </a:solidFill>
                <a:highlight>
                  <a:srgbClr val="FFFF00"/>
                </a:highlight>
                <a:latin typeface="Consolas" panose="020B0609020204030204" pitchFamily="49" charset="0"/>
              </a:rPr>
              <a:t>FOREIGN KEY </a:t>
            </a:r>
            <a:r>
              <a:rPr lang="ro-RO" sz="2100" dirty="0">
                <a:highlight>
                  <a:srgbClr val="FFFF00"/>
                </a:highlight>
                <a:latin typeface="Consolas" panose="020B0609020204030204" pitchFamily="49" charset="0"/>
              </a:rPr>
              <a:t>(cod_c) </a:t>
            </a:r>
            <a:r>
              <a:rPr lang="ro-RO" dirty="0">
                <a:solidFill>
                  <a:srgbClr val="0000FF">
                    <a:alpha val="60000"/>
                  </a:srgbClr>
                </a:solidFill>
                <a:highlight>
                  <a:srgbClr val="FFFF00"/>
                </a:highlight>
                <a:latin typeface="Consolas" panose="020B0609020204030204" pitchFamily="49" charset="0"/>
              </a:rPr>
              <a:t>REFERENCES</a:t>
            </a:r>
            <a:r>
              <a:rPr lang="ro-RO" dirty="0">
                <a:highlight>
                  <a:srgbClr val="FFFF00"/>
                </a:highlight>
                <a:latin typeface="Consolas" panose="020B0609020204030204" pitchFamily="49" charset="0"/>
              </a:rPr>
              <a:t> </a:t>
            </a:r>
            <a:r>
              <a:rPr lang="ro-RO" dirty="0">
                <a:latin typeface="Consolas" panose="020B0609020204030204" pitchFamily="49" charset="0"/>
              </a:rPr>
              <a:t>	</a:t>
            </a:r>
            <a:r>
              <a:rPr lang="ro-RO" dirty="0">
                <a:highlight>
                  <a:srgbClr val="FFFF00"/>
                </a:highlight>
                <a:latin typeface="Consolas" panose="020B0609020204030204" pitchFamily="49" charset="0"/>
              </a:rPr>
              <a:t>Companii(cod_c) </a:t>
            </a:r>
            <a:r>
              <a:rPr lang="ro-RO" dirty="0">
                <a:solidFill>
                  <a:srgbClr val="0000FF">
                    <a:alpha val="60000"/>
                  </a:srgbClr>
                </a:solidFill>
                <a:highlight>
                  <a:srgbClr val="FFFF00"/>
                </a:highlight>
                <a:latin typeface="Consolas" panose="020B0609020204030204" pitchFamily="49" charset="0"/>
              </a:rPr>
              <a:t>ON</a:t>
            </a:r>
            <a:r>
              <a:rPr lang="ro-RO" dirty="0">
                <a:highlight>
                  <a:srgbClr val="FFFF00"/>
                </a:highlight>
                <a:latin typeface="Consolas" panose="020B0609020204030204" pitchFamily="49" charset="0"/>
              </a:rPr>
              <a:t> </a:t>
            </a:r>
            <a:r>
              <a:rPr lang="ro-RO" dirty="0">
                <a:solidFill>
                  <a:srgbClr val="FF00FF">
                    <a:alpha val="60000"/>
                  </a:srgbClr>
                </a:solidFill>
                <a:highlight>
                  <a:srgbClr val="FFFF00"/>
                </a:highlight>
                <a:latin typeface="Consolas" panose="020B0609020204030204" pitchFamily="49" charset="0"/>
              </a:rPr>
              <a:t>UPDATE</a:t>
            </a:r>
            <a:r>
              <a:rPr lang="ro-RO" dirty="0">
                <a:highlight>
                  <a:srgbClr val="FFFF00"/>
                </a:highlight>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CASCADE 	ON DELETE CASCADE</a:t>
            </a:r>
          </a:p>
          <a:p>
            <a:pPr marL="0" indent="0">
              <a:buNone/>
            </a:pPr>
            <a:r>
              <a:rPr lang="en-US" dirty="0">
                <a:latin typeface="Consolas" panose="020B0609020204030204" pitchFamily="49" charset="0"/>
              </a:rPr>
              <a:t>	</a:t>
            </a:r>
            <a:r>
              <a:rPr lang="ro-RO" dirty="0">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C258103C-A170-FE96-3017-808CFCE3873A}"/>
              </a:ext>
            </a:extLst>
          </p:cNvPr>
          <p:cNvCxnSpPr>
            <a:cxnSpLocks/>
          </p:cNvCxnSpPr>
          <p:nvPr/>
        </p:nvCxnSpPr>
        <p:spPr>
          <a:xfrm flipH="1">
            <a:off x="6096000" y="4791806"/>
            <a:ext cx="739806" cy="488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0B7C7D4-0774-BF01-4D28-F969B77961A6}"/>
              </a:ext>
            </a:extLst>
          </p:cNvPr>
          <p:cNvSpPr txBox="1"/>
          <p:nvPr/>
        </p:nvSpPr>
        <p:spPr>
          <a:xfrm>
            <a:off x="6835806" y="4518240"/>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Tree>
    <p:extLst>
      <p:ext uri="{BB962C8B-B14F-4D97-AF65-F5344CB8AC3E}">
        <p14:creationId xmlns:p14="http://schemas.microsoft.com/office/powerpoint/2010/main" val="3477088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BB25-0AFF-2387-E719-C66D691E0339}"/>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CB96AA78-86DD-35CE-ECBF-629F5E9BD88A}"/>
              </a:ext>
            </a:extLst>
          </p:cNvPr>
          <p:cNvSpPr>
            <a:spLocks noGrp="1"/>
          </p:cNvSpPr>
          <p:nvPr>
            <p:ph idx="1"/>
          </p:nvPr>
        </p:nvSpPr>
        <p:spPr>
          <a:xfrm>
            <a:off x="989400" y="1685925"/>
            <a:ext cx="11039843" cy="4936817"/>
          </a:xfrm>
        </p:spPr>
        <p:txBody>
          <a:bodyPr>
            <a:normAutofit/>
          </a:bodyPr>
          <a:lstStyle/>
          <a:p>
            <a:r>
              <a:rPr lang="ro-RO" b="1" dirty="0"/>
              <a:t>Constrângerea FOREIGN KEY </a:t>
            </a:r>
            <a:r>
              <a:rPr lang="ro-RO" dirty="0"/>
              <a:t>se folosește pentru a crea relații între tabele</a:t>
            </a:r>
          </a:p>
          <a:p>
            <a:r>
              <a:rPr lang="en-US" dirty="0"/>
              <a:t>O </a:t>
            </a:r>
            <a:r>
              <a:rPr lang="en-US" dirty="0" err="1"/>
              <a:t>coloan</a:t>
            </a:r>
            <a:r>
              <a:rPr lang="ro-RO" dirty="0"/>
              <a:t>ă pe care este definită o constrângere </a:t>
            </a:r>
            <a:r>
              <a:rPr lang="ro-RO" b="1" dirty="0"/>
              <a:t>FOREIGN KEY </a:t>
            </a:r>
            <a:r>
              <a:rPr lang="ro-RO" dirty="0"/>
              <a:t>este conectată la o coloană pe care este definită o constrângere </a:t>
            </a:r>
            <a:r>
              <a:rPr lang="ro-RO" b="1" dirty="0"/>
              <a:t>PRIMARY KEY </a:t>
            </a:r>
            <a:r>
              <a:rPr lang="ro-RO" dirty="0"/>
              <a:t>(de obicei dintr-un alt tabel)</a:t>
            </a:r>
          </a:p>
          <a:p>
            <a:r>
              <a:rPr lang="ro-RO" dirty="0"/>
              <a:t>Constrângerea </a:t>
            </a:r>
            <a:r>
              <a:rPr lang="ro-RO" b="1" dirty="0"/>
              <a:t>FOREIGN KEY </a:t>
            </a:r>
            <a:r>
              <a:rPr lang="ro-RO" dirty="0"/>
              <a:t>este folosită pentru a preveni acțiuni care ar distruge legăturile dintre cele două tabele, dar și pentru a împiedica introducerea unor date invalide care nu se regăsesc în coloana pe care este definită constrângerea </a:t>
            </a:r>
            <a:r>
              <a:rPr lang="ro-RO" b="1" dirty="0"/>
              <a:t>PRIMARY KEY</a:t>
            </a:r>
          </a:p>
          <a:p>
            <a:r>
              <a:rPr lang="ro-RO" dirty="0"/>
              <a:t>Nu se pot face modificări în tabelul care conține con</a:t>
            </a:r>
            <a:r>
              <a:rPr lang="en-US" dirty="0"/>
              <a:t>str</a:t>
            </a:r>
            <a:r>
              <a:rPr lang="ro-RO" dirty="0"/>
              <a:t>ângerea </a:t>
            </a:r>
            <a:r>
              <a:rPr lang="ro-RO" b="1" dirty="0"/>
              <a:t>PRIMARY KEY </a:t>
            </a:r>
            <a:r>
              <a:rPr lang="ro-RO" dirty="0"/>
              <a:t>dacă aceste modificări distrug legături spre date din tabelul care conține constrângerea </a:t>
            </a:r>
            <a:r>
              <a:rPr lang="ro-RO" b="1" dirty="0"/>
              <a:t>FOREIGN KEY </a:t>
            </a:r>
          </a:p>
          <a:p>
            <a:endParaRPr lang="ro-RO" b="1" dirty="0"/>
          </a:p>
        </p:txBody>
      </p:sp>
    </p:spTree>
    <p:extLst>
      <p:ext uri="{BB962C8B-B14F-4D97-AF65-F5344CB8AC3E}">
        <p14:creationId xmlns:p14="http://schemas.microsoft.com/office/powerpoint/2010/main" val="266026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9214-703E-F3A5-2E26-3BEF35FF35B1}"/>
              </a:ext>
            </a:extLst>
          </p:cNvPr>
          <p:cNvSpPr>
            <a:spLocks noGrp="1"/>
          </p:cNvSpPr>
          <p:nvPr>
            <p:ph type="title"/>
          </p:nvPr>
        </p:nvSpPr>
        <p:spPr/>
        <p:txBody>
          <a:bodyPr/>
          <a:lstStyle/>
          <a:p>
            <a:r>
              <a:rPr lang="ro-RO" dirty="0">
                <a:latin typeface="+mn-lt"/>
              </a:rPr>
              <a:t>Observații</a:t>
            </a:r>
            <a:endParaRPr lang="ro-RO" dirty="0"/>
          </a:p>
        </p:txBody>
      </p:sp>
      <p:sp>
        <p:nvSpPr>
          <p:cNvPr id="3" name="Content Placeholder 2">
            <a:extLst>
              <a:ext uri="{FF2B5EF4-FFF2-40B4-BE49-F238E27FC236}">
                <a16:creationId xmlns:a16="http://schemas.microsoft.com/office/drawing/2014/main" id="{FDA5365F-D0BA-FAD0-8B43-BB500D345A19}"/>
              </a:ext>
            </a:extLst>
          </p:cNvPr>
          <p:cNvSpPr>
            <a:spLocks noGrp="1"/>
          </p:cNvSpPr>
          <p:nvPr>
            <p:ph idx="1"/>
          </p:nvPr>
        </p:nvSpPr>
        <p:spPr>
          <a:xfrm>
            <a:off x="989399" y="1685925"/>
            <a:ext cx="10649226" cy="5061104"/>
          </a:xfrm>
        </p:spPr>
        <p:txBody>
          <a:bodyPr>
            <a:normAutofit/>
          </a:bodyPr>
          <a:lstStyle/>
          <a:p>
            <a:r>
              <a:rPr lang="ro-RO" sz="2400" dirty="0"/>
              <a:t>La crearea unei constrângeri </a:t>
            </a:r>
            <a:r>
              <a:rPr lang="ro-RO" sz="2400" b="1" dirty="0"/>
              <a:t>FOREIGN KEY</a:t>
            </a:r>
            <a:r>
              <a:rPr lang="ro-RO" sz="2400" dirty="0"/>
              <a:t>, se pot specifica acțiuni care să aibă loc în cazul operațiilor de </a:t>
            </a:r>
            <a:r>
              <a:rPr lang="ro-RO" sz="2400" b="1" dirty="0"/>
              <a:t>modificare</a:t>
            </a:r>
            <a:r>
              <a:rPr lang="ro-RO" sz="2400" dirty="0"/>
              <a:t> sau </a:t>
            </a:r>
            <a:r>
              <a:rPr lang="ro-RO" sz="2400" b="1" dirty="0"/>
              <a:t>ștergere</a:t>
            </a:r>
            <a:r>
              <a:rPr lang="ro-RO" sz="2400" dirty="0"/>
              <a:t> a valorilor din coloana pe care este definită constrângerea </a:t>
            </a:r>
            <a:r>
              <a:rPr lang="ro-RO" sz="2400" b="1" dirty="0"/>
              <a:t>PRIMARY KEY </a:t>
            </a:r>
            <a:r>
              <a:rPr lang="ro-RO" sz="2400" dirty="0"/>
              <a:t>din celălalt tabel:</a:t>
            </a:r>
          </a:p>
          <a:p>
            <a:pPr lvl="2"/>
            <a:r>
              <a:rPr lang="ro-RO" sz="2000" dirty="0"/>
              <a:t>NO ACTION (default)</a:t>
            </a:r>
          </a:p>
          <a:p>
            <a:pPr lvl="2"/>
            <a:r>
              <a:rPr lang="ro-RO" sz="2000" dirty="0"/>
              <a:t>CASCADE</a:t>
            </a:r>
          </a:p>
          <a:p>
            <a:pPr lvl="2"/>
            <a:r>
              <a:rPr lang="ro-RO" sz="2000" dirty="0"/>
              <a:t>SET NULL</a:t>
            </a:r>
          </a:p>
          <a:p>
            <a:pPr lvl="2"/>
            <a:r>
              <a:rPr lang="ro-RO" sz="2000" dirty="0"/>
              <a:t>SET DEFAULT</a:t>
            </a:r>
          </a:p>
          <a:p>
            <a:pPr lvl="1"/>
            <a:endParaRPr lang="ro-RO" i="0" dirty="0"/>
          </a:p>
        </p:txBody>
      </p:sp>
    </p:spTree>
    <p:extLst>
      <p:ext uri="{BB962C8B-B14F-4D97-AF65-F5344CB8AC3E}">
        <p14:creationId xmlns:p14="http://schemas.microsoft.com/office/powerpoint/2010/main" val="270669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853412" cy="5172075"/>
          </a:xfrm>
        </p:spPr>
        <p:txBody>
          <a:bodyPr>
            <a:normAutofit fontScale="92500" lnSpcReduction="10000"/>
          </a:bodyPr>
          <a:lstStyle/>
          <a:p>
            <a:r>
              <a:rPr lang="ro-RO" dirty="0"/>
              <a:t>În final, se va crea tabelul de legătură (denumit </a:t>
            </a:r>
            <a:r>
              <a:rPr lang="ro-RO" i="1" dirty="0"/>
              <a:t>Note</a:t>
            </a:r>
            <a:r>
              <a:rPr lang="ro-RO" dirty="0"/>
              <a:t>) dintre </a:t>
            </a:r>
            <a:r>
              <a:rPr lang="ro-RO" i="1" dirty="0"/>
              <a:t>Filme</a:t>
            </a:r>
            <a:r>
              <a:rPr lang="ro-RO" dirty="0"/>
              <a:t> și </a:t>
            </a:r>
            <a:r>
              <a:rPr lang="ro-RO" i="1" dirty="0"/>
              <a:t>Utilizatori</a:t>
            </a:r>
            <a:r>
              <a:rPr lang="ro-RO" dirty="0"/>
              <a:t>, în care vor fi stocate notele date filmelor de către utilizatori:</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Note</a:t>
            </a:r>
          </a:p>
          <a:p>
            <a:pPr marL="0" indent="0">
              <a:buNone/>
            </a:pPr>
            <a:r>
              <a:rPr lang="ro-RO"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Note</a:t>
            </a:r>
          </a:p>
          <a:p>
            <a:pPr marL="0" indent="0">
              <a:buNone/>
            </a:pPr>
            <a:r>
              <a:rPr lang="ro-RO" dirty="0">
                <a:latin typeface="Consolas" panose="020B0609020204030204" pitchFamily="49" charset="0"/>
              </a:rPr>
              <a:t>	(cod_u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cod_f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nota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fk_UtilizatoriNote </a:t>
            </a:r>
            <a:r>
              <a:rPr lang="ro-RO" dirty="0">
                <a:solidFill>
                  <a:srgbClr val="0000FF">
                    <a:alpha val="60000"/>
                  </a:srgbClr>
                </a:solidFill>
                <a:highlight>
                  <a:srgbClr val="FFFF00"/>
                </a:highlight>
                <a:latin typeface="Consolas" panose="020B0609020204030204" pitchFamily="49" charset="0"/>
              </a:rPr>
              <a:t>FOREIGN KEY </a:t>
            </a:r>
            <a:r>
              <a:rPr lang="ro-RO" dirty="0">
                <a:highlight>
                  <a:srgbClr val="FFFF00"/>
                </a:highlight>
                <a:latin typeface="Consolas" panose="020B0609020204030204" pitchFamily="49" charset="0"/>
              </a:rPr>
              <a:t>(cod_u) </a:t>
            </a:r>
            <a:r>
              <a:rPr lang="ro-RO" dirty="0">
                <a:solidFill>
                  <a:srgbClr val="0000FF">
                    <a:alpha val="60000"/>
                  </a:srgbClr>
                </a:solidFill>
                <a:highlight>
                  <a:srgbClr val="FFFF00"/>
                </a:highlight>
                <a:latin typeface="Consolas" panose="020B0609020204030204" pitchFamily="49" charset="0"/>
              </a:rPr>
              <a:t>REFERENCES</a:t>
            </a:r>
            <a:r>
              <a:rPr lang="en-US" dirty="0">
                <a:solidFill>
                  <a:srgbClr val="0000FF">
                    <a:alpha val="60000"/>
                  </a:srgbClr>
                </a:solidFill>
                <a:highlight>
                  <a:srgbClr val="FFFF00"/>
                </a:highlight>
                <a:latin typeface="Consolas" panose="020B0609020204030204" pitchFamily="49" charset="0"/>
              </a:rPr>
              <a:t> </a:t>
            </a:r>
            <a:r>
              <a:rPr lang="en-US" dirty="0">
                <a:solidFill>
                  <a:srgbClr val="0000FF">
                    <a:alpha val="60000"/>
                  </a:srgbClr>
                </a:solidFill>
                <a:latin typeface="Consolas" panose="020B0609020204030204" pitchFamily="49" charset="0"/>
              </a:rPr>
              <a:t>	</a:t>
            </a:r>
            <a:r>
              <a:rPr lang="ro-RO" dirty="0">
                <a:highlight>
                  <a:srgbClr val="FFFF00"/>
                </a:highlight>
                <a:latin typeface="Consolas" panose="020B0609020204030204" pitchFamily="49" charset="0"/>
              </a:rPr>
              <a:t>Utilizatori(cod_u)</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fk_</a:t>
            </a:r>
            <a:r>
              <a:rPr lang="en-US" dirty="0" err="1">
                <a:highlight>
                  <a:srgbClr val="FFFF00"/>
                </a:highlight>
                <a:latin typeface="Consolas" panose="020B0609020204030204" pitchFamily="49" charset="0"/>
              </a:rPr>
              <a:t>Filme</a:t>
            </a:r>
            <a:r>
              <a:rPr lang="ro-RO" dirty="0">
                <a:highlight>
                  <a:srgbClr val="FFFF00"/>
                </a:highlight>
                <a:latin typeface="Consolas" panose="020B0609020204030204" pitchFamily="49" charset="0"/>
              </a:rPr>
              <a:t>Note </a:t>
            </a:r>
            <a:r>
              <a:rPr lang="ro-RO" dirty="0">
                <a:solidFill>
                  <a:srgbClr val="0000FF">
                    <a:alpha val="60000"/>
                  </a:srgbClr>
                </a:solidFill>
                <a:highlight>
                  <a:srgbClr val="FFFF00"/>
                </a:highlight>
                <a:latin typeface="Consolas" panose="020B0609020204030204" pitchFamily="49" charset="0"/>
              </a:rPr>
              <a:t>FOREIGN KEY </a:t>
            </a:r>
            <a:r>
              <a:rPr lang="ro-RO" dirty="0">
                <a:highlight>
                  <a:srgbClr val="FFFF00"/>
                </a:highlight>
                <a:latin typeface="Consolas" panose="020B0609020204030204" pitchFamily="49" charset="0"/>
              </a:rPr>
              <a:t>(cod_f) </a:t>
            </a:r>
            <a:r>
              <a:rPr lang="ro-RO" dirty="0">
                <a:solidFill>
                  <a:srgbClr val="0000FF">
                    <a:alpha val="60000"/>
                  </a:srgbClr>
                </a:solidFill>
                <a:highlight>
                  <a:srgbClr val="FFFF00"/>
                </a:highlight>
                <a:latin typeface="Consolas" panose="020B0609020204030204" pitchFamily="49" charset="0"/>
              </a:rPr>
              <a:t>REFERENCES</a:t>
            </a:r>
            <a:r>
              <a:rPr lang="ro-RO" dirty="0">
                <a:highlight>
                  <a:srgbClr val="FFFF00"/>
                </a:highlight>
                <a:latin typeface="Consolas" panose="020B0609020204030204" pitchFamily="49" charset="0"/>
              </a:rPr>
              <a:t> Filme(cod_f)</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pk_Note </a:t>
            </a:r>
            <a:r>
              <a:rPr lang="ro-RO" dirty="0">
                <a:solidFill>
                  <a:srgbClr val="0000FF">
                    <a:alpha val="60000"/>
                  </a:srgbClr>
                </a:solidFill>
                <a:highlight>
                  <a:srgbClr val="FFFF00"/>
                </a:highlight>
                <a:latin typeface="Consolas" panose="020B0609020204030204" pitchFamily="49" charset="0"/>
              </a:rPr>
              <a:t>PRIMARY KEY </a:t>
            </a:r>
            <a:r>
              <a:rPr lang="ro-RO" dirty="0">
                <a:highlight>
                  <a:srgbClr val="FFFF00"/>
                </a:highlight>
                <a:latin typeface="Consolas" panose="020B0609020204030204" pitchFamily="49" charset="0"/>
              </a:rPr>
              <a:t>(cod_u, cod_f)</a:t>
            </a:r>
          </a:p>
          <a:p>
            <a:pPr marL="0" indent="0">
              <a:buNone/>
            </a:pPr>
            <a:r>
              <a:rPr lang="ro-RO" dirty="0">
                <a:latin typeface="Consolas" panose="020B0609020204030204" pitchFamily="49" charset="0"/>
              </a:rPr>
              <a:t>	);</a:t>
            </a:r>
          </a:p>
        </p:txBody>
      </p:sp>
      <p:sp>
        <p:nvSpPr>
          <p:cNvPr id="4" name="TextBox 3">
            <a:extLst>
              <a:ext uri="{FF2B5EF4-FFF2-40B4-BE49-F238E27FC236}">
                <a16:creationId xmlns:a16="http://schemas.microsoft.com/office/drawing/2014/main" id="{6F6488C5-35CC-E716-861B-9DB95A69093B}"/>
              </a:ext>
            </a:extLst>
          </p:cNvPr>
          <p:cNvSpPr txBox="1"/>
          <p:nvPr/>
        </p:nvSpPr>
        <p:spPr>
          <a:xfrm>
            <a:off x="8927237" y="4151622"/>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
        <p:nvSpPr>
          <p:cNvPr id="5" name="TextBox 4">
            <a:extLst>
              <a:ext uri="{FF2B5EF4-FFF2-40B4-BE49-F238E27FC236}">
                <a16:creationId xmlns:a16="http://schemas.microsoft.com/office/drawing/2014/main" id="{46E144B9-B92A-C28A-8D68-76E99ECF95D2}"/>
              </a:ext>
            </a:extLst>
          </p:cNvPr>
          <p:cNvSpPr txBox="1"/>
          <p:nvPr/>
        </p:nvSpPr>
        <p:spPr>
          <a:xfrm>
            <a:off x="8752643" y="5786892"/>
            <a:ext cx="3264763" cy="646331"/>
          </a:xfrm>
          <a:prstGeom prst="rect">
            <a:avLst/>
          </a:prstGeom>
          <a:noFill/>
        </p:spPr>
        <p:txBody>
          <a:bodyPr wrap="square" rtlCol="0">
            <a:spAutoFit/>
          </a:bodyPr>
          <a:lstStyle/>
          <a:p>
            <a:r>
              <a:rPr lang="ro-RO" dirty="0"/>
              <a:t>Constrângere </a:t>
            </a:r>
            <a:r>
              <a:rPr lang="ro-RO" dirty="0">
                <a:solidFill>
                  <a:srgbClr val="0000FF"/>
                </a:solidFill>
              </a:rPr>
              <a:t>PRIMARY KEY</a:t>
            </a:r>
          </a:p>
          <a:p>
            <a:r>
              <a:rPr lang="ro-RO" dirty="0"/>
              <a:t>compusă din două coloane</a:t>
            </a:r>
          </a:p>
        </p:txBody>
      </p:sp>
      <p:cxnSp>
        <p:nvCxnSpPr>
          <p:cNvPr id="6" name="Straight Arrow Connector 5">
            <a:extLst>
              <a:ext uri="{FF2B5EF4-FFF2-40B4-BE49-F238E27FC236}">
                <a16:creationId xmlns:a16="http://schemas.microsoft.com/office/drawing/2014/main" id="{556BEA1B-F255-2B49-74F2-A48F7FFAFC3D}"/>
              </a:ext>
            </a:extLst>
          </p:cNvPr>
          <p:cNvCxnSpPr>
            <a:cxnSpLocks/>
          </p:cNvCxnSpPr>
          <p:nvPr/>
        </p:nvCxnSpPr>
        <p:spPr>
          <a:xfrm flipH="1">
            <a:off x="8018756" y="5985470"/>
            <a:ext cx="7649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76C1BC5-93B3-51BC-0930-7DD083E031D6}"/>
              </a:ext>
            </a:extLst>
          </p:cNvPr>
          <p:cNvCxnSpPr>
            <a:cxnSpLocks/>
          </p:cNvCxnSpPr>
          <p:nvPr/>
        </p:nvCxnSpPr>
        <p:spPr>
          <a:xfrm flipH="1">
            <a:off x="8487052" y="4431619"/>
            <a:ext cx="511207" cy="2671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CD094DA4-BED0-FDCC-E9ED-B34471E267B5}"/>
              </a:ext>
            </a:extLst>
          </p:cNvPr>
          <p:cNvCxnSpPr>
            <a:cxnSpLocks/>
          </p:cNvCxnSpPr>
          <p:nvPr/>
        </p:nvCxnSpPr>
        <p:spPr>
          <a:xfrm rot="5400000">
            <a:off x="10651880" y="4492127"/>
            <a:ext cx="887456" cy="7664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31612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853412" cy="5172075"/>
          </a:xfrm>
        </p:spPr>
        <p:txBody>
          <a:bodyPr>
            <a:normAutofit/>
          </a:bodyPr>
          <a:lstStyle/>
          <a:p>
            <a:r>
              <a:rPr lang="ro-RO" dirty="0"/>
              <a:t>O altă variantă de a crea tabelul de legătură (denumit </a:t>
            </a:r>
            <a:r>
              <a:rPr lang="ro-RO" i="1" dirty="0"/>
              <a:t>Note</a:t>
            </a:r>
            <a:r>
              <a:rPr lang="ro-RO" dirty="0"/>
              <a:t>) dintre </a:t>
            </a:r>
            <a:r>
              <a:rPr lang="ro-RO" i="1" dirty="0"/>
              <a:t>Filme</a:t>
            </a:r>
            <a:r>
              <a:rPr lang="ro-RO" dirty="0"/>
              <a:t> și </a:t>
            </a:r>
            <a:r>
              <a:rPr lang="ro-RO" i="1" dirty="0"/>
              <a:t>Utilizatori</a:t>
            </a:r>
            <a:r>
              <a:rPr lang="ro-RO" dirty="0"/>
              <a:t>, în care vor fi stocate notele date filmelor de către utilizatori:</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Note</a:t>
            </a:r>
          </a:p>
          <a:p>
            <a:pPr marL="0" indent="0">
              <a:buNone/>
            </a:pPr>
            <a:r>
              <a:rPr lang="ro-RO"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Note</a:t>
            </a:r>
          </a:p>
          <a:p>
            <a:pPr marL="0" indent="0">
              <a:buNone/>
            </a:pPr>
            <a:r>
              <a:rPr lang="ro-RO" dirty="0">
                <a:latin typeface="Consolas" panose="020B0609020204030204" pitchFamily="49" charset="0"/>
              </a:rPr>
              <a:t>	(cod_u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en-US" dirty="0">
                <a:solidFill>
                  <a:srgbClr val="0000FF">
                    <a:alpha val="60000"/>
                  </a:srgbClr>
                </a:solidFill>
                <a:highlight>
                  <a:srgbClr val="FFFF00"/>
                </a:highlight>
                <a:latin typeface="Consolas" panose="020B0609020204030204" pitchFamily="49" charset="0"/>
              </a:rPr>
              <a:t> </a:t>
            </a:r>
            <a:r>
              <a:rPr lang="ro-RO" dirty="0">
                <a:highlight>
                  <a:srgbClr val="FFFF00"/>
                </a:highlight>
                <a:latin typeface="Consolas" panose="020B0609020204030204" pitchFamily="49" charset="0"/>
              </a:rPr>
              <a:t>Utilizatori(cod_u)</a:t>
            </a:r>
            <a:r>
              <a:rPr lang="ro-RO" dirty="0">
                <a:latin typeface="Consolas" panose="020B0609020204030204" pitchFamily="49" charset="0"/>
              </a:rPr>
              <a:t>,</a:t>
            </a:r>
          </a:p>
          <a:p>
            <a:pPr marL="0" indent="0">
              <a:buNone/>
            </a:pPr>
            <a:r>
              <a:rPr lang="ro-RO" dirty="0">
                <a:latin typeface="Consolas" panose="020B0609020204030204" pitchFamily="49" charset="0"/>
              </a:rPr>
              <a:t>	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ro-RO" dirty="0">
                <a:highlight>
                  <a:srgbClr val="FFFF00"/>
                </a:highlight>
                <a:latin typeface="Consolas" panose="020B0609020204030204" pitchFamily="49" charset="0"/>
              </a:rPr>
              <a:t> Filme(cod_f)</a:t>
            </a:r>
            <a:r>
              <a:rPr lang="ro-RO" dirty="0">
                <a:latin typeface="Consolas" panose="020B0609020204030204" pitchFamily="49" charset="0"/>
              </a:rPr>
              <a:t>,</a:t>
            </a:r>
          </a:p>
          <a:p>
            <a:pPr marL="0" indent="0">
              <a:buNone/>
            </a:pPr>
            <a:r>
              <a:rPr lang="ro-RO" dirty="0">
                <a:latin typeface="Consolas" panose="020B0609020204030204" pitchFamily="49" charset="0"/>
              </a:rPr>
              <a:t>	nota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pk_Note </a:t>
            </a:r>
            <a:r>
              <a:rPr lang="ro-RO" dirty="0">
                <a:solidFill>
                  <a:srgbClr val="0000FF">
                    <a:alpha val="60000"/>
                  </a:srgbClr>
                </a:solidFill>
                <a:highlight>
                  <a:srgbClr val="FFFF00"/>
                </a:highlight>
                <a:latin typeface="Consolas" panose="020B0609020204030204" pitchFamily="49" charset="0"/>
              </a:rPr>
              <a:t>PRIMARY KEY </a:t>
            </a:r>
            <a:r>
              <a:rPr lang="ro-RO" dirty="0">
                <a:highlight>
                  <a:srgbClr val="FFFF00"/>
                </a:highlight>
                <a:latin typeface="Consolas" panose="020B0609020204030204" pitchFamily="49" charset="0"/>
              </a:rPr>
              <a:t>(cod_u, cod_f)</a:t>
            </a:r>
          </a:p>
          <a:p>
            <a:pPr marL="0" indent="0">
              <a:buNone/>
            </a:pPr>
            <a:r>
              <a:rPr lang="ro-RO" dirty="0">
                <a:latin typeface="Consolas" panose="020B0609020204030204" pitchFamily="49" charset="0"/>
              </a:rPr>
              <a:t>	);</a:t>
            </a:r>
          </a:p>
        </p:txBody>
      </p:sp>
      <p:sp>
        <p:nvSpPr>
          <p:cNvPr id="4" name="TextBox 3">
            <a:extLst>
              <a:ext uri="{FF2B5EF4-FFF2-40B4-BE49-F238E27FC236}">
                <a16:creationId xmlns:a16="http://schemas.microsoft.com/office/drawing/2014/main" id="{6F6488C5-35CC-E716-861B-9DB95A69093B}"/>
              </a:ext>
            </a:extLst>
          </p:cNvPr>
          <p:cNvSpPr txBox="1"/>
          <p:nvPr/>
        </p:nvSpPr>
        <p:spPr>
          <a:xfrm>
            <a:off x="8550678" y="2865879"/>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
        <p:nvSpPr>
          <p:cNvPr id="5" name="TextBox 4">
            <a:extLst>
              <a:ext uri="{FF2B5EF4-FFF2-40B4-BE49-F238E27FC236}">
                <a16:creationId xmlns:a16="http://schemas.microsoft.com/office/drawing/2014/main" id="{46E144B9-B92A-C28A-8D68-76E99ECF95D2}"/>
              </a:ext>
            </a:extLst>
          </p:cNvPr>
          <p:cNvSpPr txBox="1"/>
          <p:nvPr/>
        </p:nvSpPr>
        <p:spPr>
          <a:xfrm>
            <a:off x="9060033" y="4949929"/>
            <a:ext cx="3264763" cy="646331"/>
          </a:xfrm>
          <a:prstGeom prst="rect">
            <a:avLst/>
          </a:prstGeom>
          <a:noFill/>
        </p:spPr>
        <p:txBody>
          <a:bodyPr wrap="square" rtlCol="0">
            <a:spAutoFit/>
          </a:bodyPr>
          <a:lstStyle/>
          <a:p>
            <a:r>
              <a:rPr lang="ro-RO" dirty="0"/>
              <a:t>Constrângere </a:t>
            </a:r>
            <a:r>
              <a:rPr lang="ro-RO" dirty="0">
                <a:solidFill>
                  <a:srgbClr val="0000FF"/>
                </a:solidFill>
              </a:rPr>
              <a:t>PRIMARY KEY</a:t>
            </a:r>
          </a:p>
          <a:p>
            <a:r>
              <a:rPr lang="ro-RO" dirty="0"/>
              <a:t>compusă din două coloane</a:t>
            </a:r>
          </a:p>
        </p:txBody>
      </p:sp>
      <p:cxnSp>
        <p:nvCxnSpPr>
          <p:cNvPr id="6" name="Straight Arrow Connector 5">
            <a:extLst>
              <a:ext uri="{FF2B5EF4-FFF2-40B4-BE49-F238E27FC236}">
                <a16:creationId xmlns:a16="http://schemas.microsoft.com/office/drawing/2014/main" id="{556BEA1B-F255-2B49-74F2-A48F7FFAFC3D}"/>
              </a:ext>
            </a:extLst>
          </p:cNvPr>
          <p:cNvCxnSpPr>
            <a:cxnSpLocks/>
          </p:cNvCxnSpPr>
          <p:nvPr/>
        </p:nvCxnSpPr>
        <p:spPr>
          <a:xfrm flipH="1">
            <a:off x="8380520" y="5177360"/>
            <a:ext cx="6795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76C1BC5-93B3-51BC-0930-7DD083E031D6}"/>
              </a:ext>
            </a:extLst>
          </p:cNvPr>
          <p:cNvCxnSpPr>
            <a:cxnSpLocks/>
          </p:cNvCxnSpPr>
          <p:nvPr/>
        </p:nvCxnSpPr>
        <p:spPr>
          <a:xfrm flipH="1">
            <a:off x="8267703" y="3181201"/>
            <a:ext cx="511207" cy="2671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CD094DA4-BED0-FDCC-E9ED-B34471E267B5}"/>
              </a:ext>
            </a:extLst>
          </p:cNvPr>
          <p:cNvCxnSpPr>
            <a:cxnSpLocks/>
          </p:cNvCxnSpPr>
          <p:nvPr/>
        </p:nvCxnSpPr>
        <p:spPr>
          <a:xfrm rot="10800000" flipV="1">
            <a:off x="8550681" y="3298068"/>
            <a:ext cx="1685273" cy="823390"/>
          </a:xfrm>
          <a:prstGeom prst="bentConnector3">
            <a:avLst>
              <a:gd name="adj1" fmla="val 48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3933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738002" cy="5172075"/>
          </a:xfrm>
        </p:spPr>
        <p:txBody>
          <a:bodyPr>
            <a:normAutofit/>
          </a:bodyPr>
          <a:lstStyle/>
          <a:p>
            <a:r>
              <a:rPr lang="ro-RO" dirty="0"/>
              <a:t>În enunțul problemei se specifică faptul că atât </a:t>
            </a:r>
            <a:r>
              <a:rPr lang="ro-RO" b="1" dirty="0"/>
              <a:t>numele utilizatorului </a:t>
            </a:r>
            <a:r>
              <a:rPr lang="ro-RO" dirty="0"/>
              <a:t>cât și </a:t>
            </a:r>
            <a:r>
              <a:rPr lang="ro-RO" b="1" dirty="0"/>
              <a:t>adresa de email</a:t>
            </a:r>
            <a:r>
              <a:rPr lang="ro-RO" dirty="0"/>
              <a:t> trebuie să fie </a:t>
            </a:r>
            <a:r>
              <a:rPr lang="ro-RO" b="1" dirty="0"/>
              <a:t>unice</a:t>
            </a:r>
            <a:endParaRPr lang="en-US" b="1" dirty="0"/>
          </a:p>
          <a:p>
            <a:r>
              <a:rPr lang="en-US" dirty="0" err="1"/>
              <a:t>Dac</a:t>
            </a:r>
            <a:r>
              <a:rPr lang="ro-RO" dirty="0"/>
              <a:t>ă am omis specificarea unei constrângeri </a:t>
            </a:r>
            <a:r>
              <a:rPr lang="ro-RO" b="1" dirty="0"/>
              <a:t>UNIQUE</a:t>
            </a:r>
            <a:r>
              <a:rPr lang="ro-RO" dirty="0"/>
              <a:t> la crearea tabelului, aceasta se poate crea și </a:t>
            </a:r>
            <a:r>
              <a:rPr lang="ro-RO" b="1" dirty="0"/>
              <a:t>ulterior</a:t>
            </a:r>
            <a:r>
              <a:rPr lang="ro-RO" dirty="0"/>
              <a:t> cu ajutorul instrucțiunii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unei constrângeri UNIQUE pe coloana </a:t>
            </a:r>
            <a:r>
              <a:rPr lang="ro-RO" i="1" dirty="0">
                <a:solidFill>
                  <a:schemeClr val="accent1">
                    <a:lumMod val="75000"/>
                    <a:alpha val="60000"/>
                  </a:schemeClr>
                </a:solidFill>
              </a:rPr>
              <a:t>email</a:t>
            </a:r>
            <a:r>
              <a:rPr lang="ro-RO" dirty="0">
                <a:solidFill>
                  <a:schemeClr val="accent1">
                    <a:lumMod val="75000"/>
                    <a:alpha val="60000"/>
                  </a:schemeClr>
                </a:solidFill>
              </a:rPr>
              <a:t> </a:t>
            </a:r>
            <a:r>
              <a:rPr lang="en-US" dirty="0">
                <a:solidFill>
                  <a:schemeClr val="accent1">
                    <a:lumMod val="75000"/>
                    <a:alpha val="60000"/>
                  </a:schemeClr>
                </a:solidFill>
              </a:rPr>
              <a:t>din </a:t>
            </a:r>
            <a:r>
              <a:rPr lang="en-US" dirty="0" err="1">
                <a:solidFill>
                  <a:schemeClr val="accent1">
                    <a:lumMod val="75000"/>
                    <a:alpha val="60000"/>
                  </a:schemeClr>
                </a:solidFill>
              </a:rPr>
              <a:t>tabelul</a:t>
            </a:r>
            <a:r>
              <a:rPr lang="en-US" dirty="0">
                <a:solidFill>
                  <a:schemeClr val="accent1">
                    <a:lumMod val="75000"/>
                    <a:alpha val="60000"/>
                  </a:schemeClr>
                </a:solidFill>
              </a:rPr>
              <a:t> </a:t>
            </a:r>
            <a:r>
              <a:rPr lang="en-US" i="1" dirty="0" err="1">
                <a:solidFill>
                  <a:schemeClr val="accent1">
                    <a:lumMod val="75000"/>
                    <a:alpha val="60000"/>
                  </a:schemeClr>
                </a:solidFill>
              </a:rPr>
              <a:t>Utilizatori</a:t>
            </a:r>
            <a:r>
              <a:rPr lang="en-US" dirty="0">
                <a:solidFill>
                  <a:schemeClr val="accent1">
                    <a:lumMod val="75000"/>
                    <a:alpha val="60000"/>
                  </a:schemeClr>
                </a:solidFill>
              </a:rPr>
              <a:t> 	</a:t>
            </a:r>
            <a:r>
              <a:rPr lang="ro-RO" dirty="0">
                <a:solidFill>
                  <a:schemeClr val="accent1">
                    <a:lumMod val="75000"/>
                    <a:alpha val="60000"/>
                  </a:schemeClr>
                </a:solidFill>
              </a:rPr>
              <a:t>după crearea tabelului*/</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Utilizatori</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uq_email </a:t>
            </a:r>
            <a:r>
              <a:rPr lang="ro-RO" dirty="0">
                <a:solidFill>
                  <a:srgbClr val="0000FF">
                    <a:alpha val="60000"/>
                  </a:srgbClr>
                </a:solidFill>
                <a:latin typeface="Consolas" panose="020B0609020204030204" pitchFamily="49" charset="0"/>
              </a:rPr>
              <a:t>UNIQUE</a:t>
            </a:r>
            <a:r>
              <a:rPr lang="ro-RO" dirty="0">
                <a:latin typeface="Consolas" panose="020B0609020204030204" pitchFamily="49" charset="0"/>
              </a:rPr>
              <a:t> (email)</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p:txBody>
      </p:sp>
    </p:spTree>
    <p:extLst>
      <p:ext uri="{BB962C8B-B14F-4D97-AF65-F5344CB8AC3E}">
        <p14:creationId xmlns:p14="http://schemas.microsoft.com/office/powerpoint/2010/main" val="336729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5"/>
            <a:ext cx="10738002" cy="4439668"/>
          </a:xfrm>
        </p:spPr>
        <p:txBody>
          <a:bodyPr>
            <a:normAutofit lnSpcReduction="10000"/>
          </a:bodyPr>
          <a:lstStyle/>
          <a:p>
            <a:r>
              <a:rPr lang="ro-RO" dirty="0"/>
              <a:t>În enunțul problemei se </a:t>
            </a:r>
            <a:r>
              <a:rPr lang="en-US" dirty="0"/>
              <a:t>men</a:t>
            </a:r>
            <a:r>
              <a:rPr lang="ro-RO" dirty="0"/>
              <a:t>ționează faptul că </a:t>
            </a:r>
            <a:r>
              <a:rPr lang="ro-RO" b="1" dirty="0"/>
              <a:t>nota</a:t>
            </a:r>
            <a:r>
              <a:rPr lang="ro-RO" dirty="0"/>
              <a:t> dată de către fiecare utilizator trebuie să aibă o </a:t>
            </a:r>
            <a:r>
              <a:rPr lang="ro-RO" b="1" dirty="0"/>
              <a:t>valoare</a:t>
            </a:r>
            <a:r>
              <a:rPr lang="ro-RO" dirty="0"/>
              <a:t> cuprinsă între </a:t>
            </a:r>
            <a:r>
              <a:rPr lang="ro-RO" b="1" dirty="0"/>
              <a:t>1</a:t>
            </a:r>
            <a:r>
              <a:rPr lang="ro-RO" dirty="0"/>
              <a:t> și </a:t>
            </a:r>
            <a:r>
              <a:rPr lang="ro-RO" b="1" dirty="0"/>
              <a:t>10</a:t>
            </a:r>
            <a:endParaRPr lang="en-US" b="1" dirty="0"/>
          </a:p>
          <a:p>
            <a:r>
              <a:rPr lang="ro-RO" dirty="0"/>
              <a:t>Această restricție se poate asigura cu ajutorul unei constrângeri </a:t>
            </a:r>
            <a:r>
              <a:rPr lang="ro-RO" b="1" dirty="0"/>
              <a:t>CHECK</a:t>
            </a:r>
            <a:r>
              <a:rPr lang="ro-RO" dirty="0"/>
              <a:t>, care poate fi impusă </a:t>
            </a:r>
            <a:r>
              <a:rPr lang="ro-RO" b="1" dirty="0"/>
              <a:t>ulterior</a:t>
            </a:r>
            <a:r>
              <a:rPr lang="ro-RO" dirty="0"/>
              <a:t> creării tabelului cu ajutorul instrucțiunii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unei constrângeri CHECK pe coloana </a:t>
            </a:r>
            <a:r>
              <a:rPr lang="ro-RO" i="1" dirty="0">
                <a:solidFill>
                  <a:schemeClr val="accent1">
                    <a:lumMod val="75000"/>
                    <a:alpha val="60000"/>
                  </a:schemeClr>
                </a:solidFill>
              </a:rPr>
              <a:t>nota</a:t>
            </a:r>
            <a:r>
              <a:rPr lang="ro-RO" dirty="0">
                <a:solidFill>
                  <a:schemeClr val="accent1">
                    <a:lumMod val="75000"/>
                    <a:alpha val="60000"/>
                  </a:schemeClr>
                </a:solidFill>
              </a:rPr>
              <a:t> </a:t>
            </a:r>
            <a:r>
              <a:rPr lang="en-US" dirty="0">
                <a:solidFill>
                  <a:schemeClr val="accent1">
                    <a:lumMod val="75000"/>
                    <a:alpha val="60000"/>
                  </a:schemeClr>
                </a:solidFill>
              </a:rPr>
              <a:t>din </a:t>
            </a:r>
            <a:r>
              <a:rPr lang="en-US" dirty="0" err="1">
                <a:solidFill>
                  <a:schemeClr val="accent1">
                    <a:lumMod val="75000"/>
                    <a:alpha val="60000"/>
                  </a:schemeClr>
                </a:solidFill>
              </a:rPr>
              <a:t>tabelul</a:t>
            </a:r>
            <a:r>
              <a:rPr lang="en-US" dirty="0">
                <a:solidFill>
                  <a:schemeClr val="accent1">
                    <a:lumMod val="75000"/>
                    <a:alpha val="60000"/>
                  </a:schemeClr>
                </a:solidFill>
              </a:rPr>
              <a:t> </a:t>
            </a:r>
            <a:r>
              <a:rPr lang="ro-RO" i="1" dirty="0">
                <a:solidFill>
                  <a:schemeClr val="accent1">
                    <a:lumMod val="75000"/>
                    <a:alpha val="60000"/>
                  </a:schemeClr>
                </a:solidFill>
              </a:rPr>
              <a:t>Note</a:t>
            </a:r>
            <a:r>
              <a:rPr lang="en-US" dirty="0">
                <a:solidFill>
                  <a:schemeClr val="accent1">
                    <a:lumMod val="75000"/>
                    <a:alpha val="60000"/>
                  </a:schemeClr>
                </a:solidFill>
              </a:rPr>
              <a:t> </a:t>
            </a:r>
            <a:r>
              <a:rPr lang="ro-RO" dirty="0">
                <a:solidFill>
                  <a:schemeClr val="accent1">
                    <a:lumMod val="75000"/>
                    <a:alpha val="60000"/>
                  </a:schemeClr>
                </a:solidFill>
              </a:rPr>
              <a:t>după ce a fost </a:t>
            </a:r>
            <a:r>
              <a:rPr lang="en-US" dirty="0">
                <a:solidFill>
                  <a:schemeClr val="accent1">
                    <a:lumMod val="75000"/>
                    <a:alpha val="60000"/>
                  </a:schemeClr>
                </a:solidFill>
              </a:rPr>
              <a:t>	</a:t>
            </a:r>
            <a:r>
              <a:rPr lang="ro-RO" dirty="0">
                <a:solidFill>
                  <a:schemeClr val="accent1">
                    <a:lumMod val="75000"/>
                    <a:alpha val="60000"/>
                  </a:schemeClr>
                </a:solidFill>
              </a:rPr>
              <a:t>creat tabelul*/</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ck_nota </a:t>
            </a:r>
            <a:r>
              <a:rPr lang="ro-RO" dirty="0">
                <a:solidFill>
                  <a:srgbClr val="0000FF">
                    <a:alpha val="60000"/>
                  </a:srgbClr>
                </a:solidFill>
                <a:latin typeface="Consolas" panose="020B0609020204030204" pitchFamily="49" charset="0"/>
              </a:rPr>
              <a:t>CHECK</a:t>
            </a:r>
            <a:r>
              <a:rPr lang="ro-RO" dirty="0">
                <a:latin typeface="Consolas" panose="020B0609020204030204" pitchFamily="49" charset="0"/>
              </a:rPr>
              <a:t> (nota</a:t>
            </a:r>
            <a:r>
              <a:rPr lang="en-US" dirty="0">
                <a:latin typeface="Consolas" panose="020B0609020204030204" pitchFamily="49" charset="0"/>
              </a:rPr>
              <a:t>&gt;=1 AND nota&lt;=10</a:t>
            </a:r>
            <a:r>
              <a:rPr lang="ro-RO" dirty="0">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latin typeface="Consolas" panose="020B0609020204030204" pitchFamily="49" charset="0"/>
            </a:endParaRPr>
          </a:p>
          <a:p>
            <a:pPr marL="0" indent="0">
              <a:buNone/>
            </a:pPr>
            <a:r>
              <a:rPr lang="ro-RO" dirty="0">
                <a:solidFill>
                  <a:srgbClr val="FF0000">
                    <a:alpha val="60000"/>
                  </a:srgbClr>
                </a:solidFill>
              </a:rPr>
              <a:t>!!! Dacă există în tabel valori care nu se află în intervalul specificat de condiția din constrângerea CHECK de mai sus, instrucțiunea de creare a constrângerii va eșua</a:t>
            </a:r>
          </a:p>
        </p:txBody>
      </p:sp>
    </p:spTree>
    <p:extLst>
      <p:ext uri="{BB962C8B-B14F-4D97-AF65-F5344CB8AC3E}">
        <p14:creationId xmlns:p14="http://schemas.microsoft.com/office/powerpoint/2010/main" val="277496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FE435-7010-A20E-2E48-DA317BAA3134}"/>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8F1F657C-CB22-43FF-0DA7-64D8A421140E}"/>
              </a:ext>
            </a:extLst>
          </p:cNvPr>
          <p:cNvSpPr>
            <a:spLocks noGrp="1"/>
          </p:cNvSpPr>
          <p:nvPr>
            <p:ph idx="1"/>
          </p:nvPr>
        </p:nvSpPr>
        <p:spPr>
          <a:xfrm>
            <a:off x="989400" y="1685925"/>
            <a:ext cx="10738002" cy="4439667"/>
          </a:xfrm>
        </p:spPr>
        <p:txBody>
          <a:bodyPr/>
          <a:lstStyle/>
          <a:p>
            <a:r>
              <a:rPr lang="ro-RO" b="1" dirty="0"/>
              <a:t>Constrângerea CHECK </a:t>
            </a:r>
            <a:r>
              <a:rPr lang="ro-RO" dirty="0"/>
              <a:t>se folosește pentru a limita intervalul de valori ce se pot introduce pentru o anumită coloană</a:t>
            </a:r>
          </a:p>
          <a:p>
            <a:r>
              <a:rPr lang="ro-RO" dirty="0"/>
              <a:t>Se poate defini pe o coloană, iar în acest caz limitează valorile ce pot fi introduse pentru coloana respectivă</a:t>
            </a:r>
          </a:p>
          <a:p>
            <a:r>
              <a:rPr lang="ro-RO" dirty="0"/>
              <a:t>Se pot crea și </a:t>
            </a:r>
            <a:r>
              <a:rPr lang="ro-RO" b="1" dirty="0"/>
              <a:t>constrângeri CHECK </a:t>
            </a:r>
            <a:r>
              <a:rPr lang="ro-RO" dirty="0"/>
              <a:t>care conțin restricții pentru mai multe coloane</a:t>
            </a:r>
          </a:p>
        </p:txBody>
      </p:sp>
    </p:spTree>
    <p:extLst>
      <p:ext uri="{BB962C8B-B14F-4D97-AF65-F5344CB8AC3E}">
        <p14:creationId xmlns:p14="http://schemas.microsoft.com/office/powerpoint/2010/main" val="94723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738002" cy="5172075"/>
          </a:xfrm>
        </p:spPr>
        <p:txBody>
          <a:bodyPr>
            <a:normAutofit/>
          </a:bodyPr>
          <a:lstStyle/>
          <a:p>
            <a:r>
              <a:rPr lang="ro-RO" dirty="0"/>
              <a:t>În anumite cazuri, vor fi necesare </a:t>
            </a:r>
            <a:r>
              <a:rPr lang="ro-RO" b="1" dirty="0"/>
              <a:t>modificări</a:t>
            </a:r>
            <a:r>
              <a:rPr lang="ro-RO" dirty="0"/>
              <a:t> la nivelul structurii bazei de date</a:t>
            </a:r>
            <a:endParaRPr lang="ro-RO" b="1" dirty="0"/>
          </a:p>
          <a:p>
            <a:r>
              <a:rPr lang="ro-RO" dirty="0"/>
              <a:t>Dacă dorim să </a:t>
            </a:r>
            <a:r>
              <a:rPr lang="ro-RO" b="1" dirty="0"/>
              <a:t>adăugăm</a:t>
            </a:r>
            <a:r>
              <a:rPr lang="ro-RO" dirty="0"/>
              <a:t> o </a:t>
            </a:r>
            <a:r>
              <a:rPr lang="ro-RO" b="1" dirty="0"/>
              <a:t>coloană nouă </a:t>
            </a:r>
            <a:r>
              <a:rPr lang="ro-RO" dirty="0"/>
              <a:t>în tabelul </a:t>
            </a:r>
            <a:r>
              <a:rPr lang="ro-RO" i="1" dirty="0"/>
              <a:t>Note </a:t>
            </a:r>
            <a:r>
              <a:rPr lang="ro-RO" dirty="0"/>
              <a:t>în care vom stoca data și ora la care a fost adăugată nota, vom folosi din nou instrucțiunea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a:solidFill>
                  <a:schemeClr val="accent1">
                    <a:lumMod val="75000"/>
                    <a:alpha val="60000"/>
                  </a:schemeClr>
                </a:solidFill>
              </a:rPr>
              <a:t>Ad</a:t>
            </a:r>
            <a:r>
              <a:rPr lang="ro-RO" dirty="0">
                <a:solidFill>
                  <a:schemeClr val="accent1">
                    <a:lumMod val="75000"/>
                    <a:alpha val="60000"/>
                  </a:schemeClr>
                </a:solidFill>
              </a:rPr>
              <a:t>ăugarea</a:t>
            </a:r>
            <a:r>
              <a:rPr lang="en-US" dirty="0">
                <a:solidFill>
                  <a:schemeClr val="accent1">
                    <a:lumMod val="75000"/>
                    <a:alpha val="60000"/>
                  </a:schemeClr>
                </a:solidFill>
              </a:rPr>
              <a:t> </a:t>
            </a:r>
            <a:r>
              <a:rPr lang="ro-RO" dirty="0">
                <a:solidFill>
                  <a:schemeClr val="accent1">
                    <a:lumMod val="75000"/>
                    <a:alpha val="60000"/>
                  </a:schemeClr>
                </a:solidFill>
              </a:rPr>
              <a:t>unei coloane noi în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a:t>
            </a:r>
            <a:r>
              <a:rPr lang="ro-RO" dirty="0">
                <a:latin typeface="Consolas" panose="020B0609020204030204" pitchFamily="49" charset="0"/>
              </a:rPr>
              <a:t>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 </a:t>
            </a:r>
            <a:r>
              <a:rPr lang="ro-RO" dirty="0">
                <a:solidFill>
                  <a:srgbClr val="0000FF">
                    <a:alpha val="60000"/>
                  </a:srgbClr>
                </a:solidFill>
                <a:latin typeface="Consolas" panose="020B0609020204030204" pitchFamily="49" charset="0"/>
              </a:rPr>
              <a:t>DATETIME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p:txBody>
      </p:sp>
    </p:spTree>
    <p:extLst>
      <p:ext uri="{BB962C8B-B14F-4D97-AF65-F5344CB8AC3E}">
        <p14:creationId xmlns:p14="http://schemas.microsoft.com/office/powerpoint/2010/main" val="140131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1066476" cy="4972327"/>
          </a:xfrm>
        </p:spPr>
        <p:txBody>
          <a:bodyPr>
            <a:normAutofit/>
          </a:bodyPr>
          <a:lstStyle/>
          <a:p>
            <a:r>
              <a:rPr lang="en-US" dirty="0" err="1"/>
              <a:t>Dac</a:t>
            </a:r>
            <a:r>
              <a:rPr lang="ro-RO" dirty="0"/>
              <a:t>ă dorim să setăm o </a:t>
            </a:r>
            <a:r>
              <a:rPr lang="ro-RO" b="1" dirty="0"/>
              <a:t>valoare implicită </a:t>
            </a:r>
            <a:r>
              <a:rPr lang="ro-RO" dirty="0"/>
              <a:t>pentru o </a:t>
            </a:r>
            <a:r>
              <a:rPr lang="ro-RO" b="1" dirty="0"/>
              <a:t>coloană </a:t>
            </a:r>
            <a:r>
              <a:rPr lang="ro-RO" dirty="0"/>
              <a:t>(care să fie introdusă în mod automat atunci când nu se specifică o valoare pentru coloana respectivă la adăugarea unei înregistrări), vom folosi o constrângere </a:t>
            </a:r>
            <a:r>
              <a:rPr lang="ro-RO" b="1" dirty="0"/>
              <a:t>DEFAULT</a:t>
            </a:r>
            <a:r>
              <a:rPr lang="ro-RO" dirty="0"/>
              <a:t>:</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Ad</a:t>
            </a:r>
            <a:r>
              <a:rPr lang="ro-RO" dirty="0">
                <a:solidFill>
                  <a:schemeClr val="accent1">
                    <a:lumMod val="75000"/>
                    <a:alpha val="60000"/>
                  </a:schemeClr>
                </a:solidFill>
              </a:rPr>
              <a:t>ăugarea</a:t>
            </a:r>
            <a:r>
              <a:rPr lang="en-US" dirty="0">
                <a:solidFill>
                  <a:schemeClr val="accent1">
                    <a:lumMod val="75000"/>
                    <a:alpha val="60000"/>
                  </a:schemeClr>
                </a:solidFill>
              </a:rPr>
              <a:t> </a:t>
            </a:r>
            <a:r>
              <a:rPr lang="ro-RO" dirty="0">
                <a:solidFill>
                  <a:schemeClr val="accent1">
                    <a:lumMod val="75000"/>
                    <a:alpha val="60000"/>
                  </a:schemeClr>
                </a:solidFill>
              </a:rPr>
              <a:t>unei constrângeri DEFAULT pe coloana data_si_ora_adaugarii</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df_data_si_ora_adaugarii </a:t>
            </a:r>
            <a:r>
              <a:rPr lang="ro-RO" dirty="0">
                <a:solidFill>
                  <a:srgbClr val="0000FF">
                    <a:alpha val="60000"/>
                  </a:srgbClr>
                </a:solidFill>
                <a:latin typeface="Consolas" panose="020B0609020204030204" pitchFamily="49" charset="0"/>
              </a:rPr>
              <a:t>DEFAULT</a:t>
            </a:r>
            <a:r>
              <a:rPr lang="ro-RO" dirty="0">
                <a:latin typeface="Consolas" panose="020B0609020204030204" pitchFamily="49" charset="0"/>
              </a:rPr>
              <a:t> </a:t>
            </a:r>
            <a:r>
              <a:rPr lang="ro-RO" dirty="0">
                <a:solidFill>
                  <a:srgbClr val="FF00FF"/>
                </a:solidFill>
                <a:latin typeface="Consolas" panose="020B0609020204030204" pitchFamily="49" charset="0"/>
              </a:rPr>
              <a:t>GETDATE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FOR</a:t>
            </a:r>
            <a:r>
              <a:rPr lang="ro-RO" dirty="0">
                <a:latin typeface="Consolas" panose="020B0609020204030204" pitchFamily="49" charset="0"/>
              </a:rPr>
              <a:t> 	data_si_ora_adaugarii</a:t>
            </a:r>
            <a:r>
              <a:rPr lang="en-US" dirty="0">
                <a:latin typeface="Consolas" panose="020B0609020204030204" pitchFamily="49" charset="0"/>
              </a:rPr>
              <a:t>;</a:t>
            </a:r>
            <a:endParaRPr lang="ro-RO" dirty="0">
              <a:latin typeface="Consolas" panose="020B0609020204030204" pitchFamily="49" charset="0"/>
            </a:endParaRPr>
          </a:p>
          <a:p>
            <a:r>
              <a:rPr lang="ro-RO" dirty="0">
                <a:solidFill>
                  <a:srgbClr val="FF0000">
                    <a:alpha val="60000"/>
                  </a:srgbClr>
                </a:solidFill>
              </a:rPr>
              <a:t>!!!În exemplul de mai sus, este folosită funcția sistem </a:t>
            </a:r>
            <a:r>
              <a:rPr lang="ro-RO" b="1" dirty="0">
                <a:solidFill>
                  <a:srgbClr val="FF0000">
                    <a:alpha val="60000"/>
                  </a:srgbClr>
                </a:solidFill>
              </a:rPr>
              <a:t>GETDATE() </a:t>
            </a:r>
            <a:r>
              <a:rPr lang="ro-RO" dirty="0">
                <a:solidFill>
                  <a:srgbClr val="FF0000">
                    <a:alpha val="60000"/>
                  </a:srgbClr>
                </a:solidFill>
              </a:rPr>
              <a:t>pentru generarea valorii implicite, deoarece se dorește folosirea datei și orei curente la momentul adăugării înregistrării în tabel</a:t>
            </a:r>
          </a:p>
        </p:txBody>
      </p:sp>
    </p:spTree>
    <p:extLst>
      <p:ext uri="{BB962C8B-B14F-4D97-AF65-F5344CB8AC3E}">
        <p14:creationId xmlns:p14="http://schemas.microsoft.com/office/powerpoint/2010/main" val="79583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888922" cy="5034471"/>
          </a:xfrm>
        </p:spPr>
        <p:txBody>
          <a:bodyPr/>
          <a:lstStyle/>
          <a:p>
            <a:r>
              <a:rPr lang="ro-RO" dirty="0"/>
              <a:t>Dacă dorim să modificăm tipul de date al unei coloane, vom folosi din nou instrucțiunea </a:t>
            </a:r>
            <a:r>
              <a:rPr lang="ro-RO" b="1" i="1" dirty="0"/>
              <a:t>ALTER TABLE</a:t>
            </a:r>
            <a:r>
              <a:rPr lang="ro-RO" dirty="0"/>
              <a:t>:</a:t>
            </a:r>
          </a:p>
          <a:p>
            <a:pPr marL="0" indent="0">
              <a:buNone/>
            </a:pPr>
            <a:r>
              <a:rPr lang="ro-RO" dirty="0">
                <a:solidFill>
                  <a:schemeClr val="accent1">
                    <a:lumMod val="75000"/>
                    <a:alpha val="60000"/>
                  </a:schemeClr>
                </a:solidFill>
              </a:rPr>
              <a:t>	--Modificarea tipului de date</a:t>
            </a:r>
            <a:r>
              <a:rPr lang="en-US" dirty="0">
                <a:solidFill>
                  <a:schemeClr val="accent1">
                    <a:lumMod val="75000"/>
                    <a:alpha val="60000"/>
                  </a:schemeClr>
                </a:solidFill>
              </a:rPr>
              <a:t> </a:t>
            </a:r>
            <a:r>
              <a:rPr lang="ro-RO" dirty="0">
                <a:solidFill>
                  <a:schemeClr val="accent1">
                    <a:lumMod val="75000"/>
                    <a:alpha val="60000"/>
                  </a:schemeClr>
                </a:solidFill>
              </a:rPr>
              <a:t>al coloanei </a:t>
            </a:r>
            <a:r>
              <a:rPr lang="ro-RO" i="1" dirty="0">
                <a:solidFill>
                  <a:schemeClr val="accent1">
                    <a:lumMod val="75000"/>
                    <a:alpha val="60000"/>
                  </a:schemeClr>
                </a:solidFill>
              </a:rPr>
              <a:t>titlu</a:t>
            </a:r>
            <a:r>
              <a:rPr lang="ro-RO" dirty="0">
                <a:solidFill>
                  <a:schemeClr val="accent1">
                    <a:lumMod val="75000"/>
                    <a:alpha val="60000"/>
                  </a:schemeClr>
                </a:solidFill>
              </a:rPr>
              <a:t> din tabelul </a:t>
            </a:r>
            <a:r>
              <a:rPr lang="ro-RO" i="1" dirty="0">
                <a:solidFill>
                  <a:schemeClr val="accent1">
                    <a:lumMod val="75000"/>
                    <a:alpha val="60000"/>
                  </a:schemeClr>
                </a:solidFill>
              </a:rPr>
              <a:t>Filme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Filme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ALTER COLUMN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NVARCHAR(220)</a:t>
            </a:r>
            <a:r>
              <a:rPr lang="en-US" dirty="0">
                <a:latin typeface="Consolas" panose="020B0609020204030204" pitchFamily="49" charset="0"/>
              </a:rPr>
              <a:t>;</a:t>
            </a:r>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348733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888922" cy="5034471"/>
          </a:xfrm>
        </p:spPr>
        <p:txBody>
          <a:bodyPr/>
          <a:lstStyle/>
          <a:p>
            <a:r>
              <a:rPr lang="ro-RO" dirty="0"/>
              <a:t>Dacă dorim să eliminăm</a:t>
            </a:r>
            <a:r>
              <a:rPr lang="en-US" dirty="0"/>
              <a:t> </a:t>
            </a:r>
            <a:r>
              <a:rPr lang="ro-RO" dirty="0"/>
              <a:t>o constrângere dintr-un tabel, vom folosi instrucțiunea  </a:t>
            </a:r>
            <a:r>
              <a:rPr lang="ro-RO" b="1" i="1" dirty="0"/>
              <a:t>ALTER TABLE</a:t>
            </a:r>
            <a:r>
              <a:rPr lang="ro-RO" dirty="0"/>
              <a:t>: </a:t>
            </a:r>
          </a:p>
          <a:p>
            <a:pPr marL="0" indent="0">
              <a:buNone/>
            </a:pPr>
            <a:r>
              <a:rPr lang="ro-RO" dirty="0">
                <a:solidFill>
                  <a:schemeClr val="accent1">
                    <a:lumMod val="75000"/>
                    <a:alpha val="60000"/>
                  </a:schemeClr>
                </a:solidFill>
              </a:rPr>
              <a:t>	/*Eliminarea constrângerii DEFAULT</a:t>
            </a:r>
            <a:r>
              <a:rPr lang="en-US" dirty="0">
                <a:solidFill>
                  <a:schemeClr val="accent1">
                    <a:lumMod val="75000"/>
                    <a:alpha val="60000"/>
                  </a:schemeClr>
                </a:solidFill>
              </a:rPr>
              <a:t> </a:t>
            </a:r>
            <a:r>
              <a:rPr lang="ro-RO" dirty="0">
                <a:solidFill>
                  <a:schemeClr val="accent1">
                    <a:lumMod val="75000"/>
                    <a:alpha val="60000"/>
                  </a:schemeClr>
                </a:solidFill>
              </a:rPr>
              <a:t>definită pe coloana data_si_ora_adaugarii 	din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DROP CONSTRAINT </a:t>
            </a:r>
            <a:r>
              <a:rPr lang="ro-RO" dirty="0">
                <a:latin typeface="Consolas" panose="020B0609020204030204" pitchFamily="49" charset="0"/>
              </a:rPr>
              <a:t>df_data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87262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116565" cy="5034471"/>
          </a:xfrm>
        </p:spPr>
        <p:txBody>
          <a:bodyPr/>
          <a:lstStyle/>
          <a:p>
            <a:r>
              <a:rPr lang="ro-RO" dirty="0"/>
              <a:t>Dacă dorim să ștergem o coloană dintr-un tabel, vom folosi instrucțiunea  </a:t>
            </a:r>
            <a:r>
              <a:rPr lang="ro-RO" b="1" i="1" dirty="0"/>
              <a:t>ALTER TABLE</a:t>
            </a:r>
            <a:r>
              <a:rPr lang="ro-RO" dirty="0"/>
              <a:t>: </a:t>
            </a:r>
          </a:p>
          <a:p>
            <a:pPr marL="0" indent="0">
              <a:buNone/>
            </a:pPr>
            <a:r>
              <a:rPr lang="ro-RO" dirty="0">
                <a:solidFill>
                  <a:schemeClr val="accent1">
                    <a:lumMod val="75000"/>
                    <a:alpha val="60000"/>
                  </a:schemeClr>
                </a:solidFill>
              </a:rPr>
              <a:t>	--Ștergerea</a:t>
            </a:r>
            <a:r>
              <a:rPr lang="en-US" dirty="0">
                <a:solidFill>
                  <a:schemeClr val="accent1">
                    <a:lumMod val="75000"/>
                    <a:alpha val="60000"/>
                  </a:schemeClr>
                </a:solidFill>
              </a:rPr>
              <a:t> </a:t>
            </a:r>
            <a:r>
              <a:rPr lang="ro-RO" dirty="0">
                <a:solidFill>
                  <a:schemeClr val="accent1">
                    <a:lumMod val="75000"/>
                    <a:alpha val="60000"/>
                  </a:schemeClr>
                </a:solidFill>
              </a:rPr>
              <a:t>coloanei data_si_ora_adaugarii din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DROP COLUMN </a:t>
            </a:r>
            <a:r>
              <a:rPr lang="ro-RO" dirty="0">
                <a:latin typeface="Consolas" panose="020B0609020204030204" pitchFamily="49" charset="0"/>
              </a:rPr>
              <a:t>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34748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213200" cy="5034471"/>
          </a:xfrm>
        </p:spPr>
        <p:txBody>
          <a:bodyPr/>
          <a:lstStyle/>
          <a:p>
            <a:r>
              <a:rPr lang="ro-RO" dirty="0"/>
              <a:t>Dacă dorim să </a:t>
            </a:r>
            <a:r>
              <a:rPr lang="en-US" dirty="0" err="1"/>
              <a:t>modific</a:t>
            </a:r>
            <a:r>
              <a:rPr lang="ro-RO" dirty="0"/>
              <a:t>ăm numele bazei de date, vom folosi instrucțiunea </a:t>
            </a:r>
            <a:r>
              <a:rPr lang="ro-RO" b="1" i="1" dirty="0"/>
              <a:t>ALTER DATABASE</a:t>
            </a:r>
            <a:r>
              <a:rPr lang="ro-RO" dirty="0"/>
              <a:t>:</a:t>
            </a:r>
          </a:p>
          <a:p>
            <a:pPr marL="0" indent="0">
              <a:buNone/>
            </a:pPr>
            <a:r>
              <a:rPr lang="ro-RO" dirty="0">
                <a:solidFill>
                  <a:schemeClr val="accent1">
                    <a:lumMod val="75000"/>
                    <a:alpha val="60000"/>
                  </a:schemeClr>
                </a:solidFill>
              </a:rPr>
              <a:t>	--Modificarea numelui bazei de date</a:t>
            </a:r>
            <a:r>
              <a:rPr lang="en-US" dirty="0">
                <a:solidFill>
                  <a:schemeClr val="accent1">
                    <a:lumMod val="75000"/>
                    <a:alpha val="60000"/>
                  </a:schemeClr>
                </a:solidFill>
              </a:rPr>
              <a:t> </a:t>
            </a:r>
            <a:r>
              <a:rPr lang="ro-RO" dirty="0">
                <a:solidFill>
                  <a:schemeClr val="accent1">
                    <a:lumMod val="75000"/>
                    <a:alpha val="60000"/>
                  </a:schemeClr>
                </a:solidFill>
              </a:rPr>
              <a:t> </a:t>
            </a:r>
            <a:r>
              <a:rPr lang="ro-RO" i="1" dirty="0">
                <a:solidFill>
                  <a:schemeClr val="accent1">
                    <a:lumMod val="75000"/>
                    <a:alpha val="60000"/>
                  </a:schemeClr>
                </a:solidFill>
              </a:rPr>
              <a:t>ProblemaFilme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DATABASE </a:t>
            </a:r>
            <a:r>
              <a:rPr lang="ro-RO" dirty="0">
                <a:latin typeface="Consolas" panose="020B0609020204030204" pitchFamily="49" charset="0"/>
              </a:rPr>
              <a:t>ProblemaFilme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MODIFY</a:t>
            </a:r>
            <a:r>
              <a:rPr lang="ro-RO" dirty="0">
                <a:latin typeface="Consolas" panose="020B0609020204030204" pitchFamily="49" charset="0"/>
              </a:rPr>
              <a:t> Name=NoteFilme</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a:p>
            <a:endParaRPr lang="ro-RO" dirty="0"/>
          </a:p>
        </p:txBody>
      </p:sp>
    </p:spTree>
    <p:extLst>
      <p:ext uri="{BB962C8B-B14F-4D97-AF65-F5344CB8AC3E}">
        <p14:creationId xmlns:p14="http://schemas.microsoft.com/office/powerpoint/2010/main" val="227736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ro-RO" dirty="0">
                <a:latin typeface="+mn-lt"/>
              </a:rPr>
              <a:t>Ștergerea unui tabel din baza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338507" cy="5034471"/>
          </a:xfrm>
        </p:spPr>
        <p:txBody>
          <a:bodyPr/>
          <a:lstStyle/>
          <a:p>
            <a:r>
              <a:rPr lang="ro-RO" dirty="0"/>
              <a:t>Dacă dorim să ștergem un tabel din baza de date, vom folosi instrucțiunea </a:t>
            </a:r>
            <a:r>
              <a:rPr lang="ro-RO" b="1" i="1" dirty="0"/>
              <a:t>DROP TABLE</a:t>
            </a:r>
            <a:r>
              <a:rPr lang="ro-RO" dirty="0"/>
              <a:t>:</a:t>
            </a:r>
          </a:p>
          <a:p>
            <a:pPr marL="0" indent="0">
              <a:buNone/>
            </a:pPr>
            <a:r>
              <a:rPr lang="ro-RO" dirty="0">
                <a:solidFill>
                  <a:schemeClr val="accent1">
                    <a:lumMod val="75000"/>
                    <a:alpha val="60000"/>
                  </a:schemeClr>
                </a:solidFill>
              </a:rPr>
              <a:t>	--Ștergerea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DROP TABLE </a:t>
            </a:r>
            <a:r>
              <a:rPr lang="ro-RO" dirty="0">
                <a:latin typeface="Consolas" panose="020B0609020204030204" pitchFamily="49" charset="0"/>
              </a:rPr>
              <a:t>Note</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a:p>
            <a:endParaRPr lang="ro-RO" dirty="0"/>
          </a:p>
        </p:txBody>
      </p:sp>
    </p:spTree>
    <p:extLst>
      <p:ext uri="{BB962C8B-B14F-4D97-AF65-F5344CB8AC3E}">
        <p14:creationId xmlns:p14="http://schemas.microsoft.com/office/powerpoint/2010/main" val="288297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B183-1FBD-21D0-EBF0-2155F272F4EF}"/>
              </a:ext>
            </a:extLst>
          </p:cNvPr>
          <p:cNvSpPr>
            <a:spLocks noGrp="1"/>
          </p:cNvSpPr>
          <p:nvPr>
            <p:ph type="title"/>
          </p:nvPr>
        </p:nvSpPr>
        <p:spPr/>
        <p:txBody>
          <a:bodyPr/>
          <a:lstStyle/>
          <a:p>
            <a:r>
              <a:rPr lang="ro-RO" dirty="0">
                <a:latin typeface="+mn-lt"/>
              </a:rPr>
              <a:t>Ștergerea bazei de date</a:t>
            </a:r>
            <a:endParaRPr lang="ro-RO" dirty="0"/>
          </a:p>
        </p:txBody>
      </p:sp>
      <p:sp>
        <p:nvSpPr>
          <p:cNvPr id="3" name="Content Placeholder 2">
            <a:extLst>
              <a:ext uri="{FF2B5EF4-FFF2-40B4-BE49-F238E27FC236}">
                <a16:creationId xmlns:a16="http://schemas.microsoft.com/office/drawing/2014/main" id="{915C0C84-CCD2-6552-0DD2-736FD89DD07B}"/>
              </a:ext>
            </a:extLst>
          </p:cNvPr>
          <p:cNvSpPr>
            <a:spLocks noGrp="1"/>
          </p:cNvSpPr>
          <p:nvPr>
            <p:ph idx="1"/>
          </p:nvPr>
        </p:nvSpPr>
        <p:spPr>
          <a:xfrm>
            <a:off x="989399" y="1685925"/>
            <a:ext cx="10933311" cy="4981205"/>
          </a:xfrm>
        </p:spPr>
        <p:txBody>
          <a:bodyPr/>
          <a:lstStyle/>
          <a:p>
            <a:r>
              <a:rPr lang="ro-RO" dirty="0"/>
              <a:t>Dacă dorim să ștergem baza de date, vom folosi instrucțiunea </a:t>
            </a:r>
            <a:r>
              <a:rPr lang="ro-RO" b="1" i="1" dirty="0"/>
              <a:t>DROP DATABASE</a:t>
            </a:r>
            <a:r>
              <a:rPr lang="ro-RO" dirty="0"/>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--Ștergerea bazei de date </a:t>
            </a:r>
            <a:r>
              <a:rPr lang="ro-RO" i="1" dirty="0">
                <a:solidFill>
                  <a:schemeClr val="accent1">
                    <a:lumMod val="75000"/>
                    <a:alpha val="60000"/>
                  </a:schemeClr>
                </a:solidFill>
              </a:rPr>
              <a:t>NoteFilme</a:t>
            </a:r>
            <a:endParaRPr lang="ro-RO" dirty="0">
              <a:solidFill>
                <a:schemeClr val="accent1">
                  <a:lumMod val="75000"/>
                  <a:alpha val="60000"/>
                </a:schemeClr>
              </a:solidFill>
            </a:endParaRPr>
          </a:p>
          <a:p>
            <a:pPr marL="0" indent="0">
              <a:buNone/>
            </a:pPr>
            <a:r>
              <a:rPr lang="ro-RO" dirty="0"/>
              <a:t>	</a:t>
            </a:r>
            <a:r>
              <a:rPr lang="en-US" dirty="0">
                <a:solidFill>
                  <a:srgbClr val="0000FF">
                    <a:alpha val="60000"/>
                  </a:srgbClr>
                </a:solidFill>
                <a:latin typeface="Consolas" panose="020B0609020204030204" pitchFamily="49" charset="0"/>
              </a:rPr>
              <a:t>USE</a:t>
            </a:r>
            <a:r>
              <a:rPr lang="en-US" dirty="0">
                <a:latin typeface="Consolas" panose="020B0609020204030204" pitchFamily="49" charset="0"/>
              </a:rPr>
              <a:t> master;</a:t>
            </a:r>
          </a:p>
          <a:p>
            <a:pPr marL="0" indent="0">
              <a:buNone/>
            </a:pPr>
            <a:r>
              <a:rPr lang="en-US" dirty="0">
                <a:solidFill>
                  <a:srgbClr val="0000FF">
                    <a:alpha val="60000"/>
                  </a:srgbClr>
                </a:solidFill>
                <a:latin typeface="Consolas" panose="020B0609020204030204" pitchFamily="49" charset="0"/>
              </a:rPr>
              <a:t>	DROP</a:t>
            </a:r>
            <a:r>
              <a:rPr lang="ro-RO" dirty="0">
                <a:solidFill>
                  <a:srgbClr val="0000FF">
                    <a:alpha val="60000"/>
                  </a:srgbClr>
                </a:solidFill>
                <a:latin typeface="Consolas" panose="020B0609020204030204" pitchFamily="49" charset="0"/>
              </a:rPr>
              <a:t> DATABASE </a:t>
            </a:r>
            <a:r>
              <a:rPr lang="en-US" dirty="0" err="1">
                <a:latin typeface="Consolas" panose="020B0609020204030204" pitchFamily="49" charset="0"/>
              </a:rPr>
              <a:t>NoteF</a:t>
            </a:r>
            <a:r>
              <a:rPr lang="ro-RO" dirty="0">
                <a:latin typeface="Consolas" panose="020B0609020204030204" pitchFamily="49" charset="0"/>
              </a:rPr>
              <a:t>ilme</a:t>
            </a:r>
            <a:r>
              <a:rPr lang="en-US" dirty="0">
                <a:latin typeface="Consolas" panose="020B0609020204030204" pitchFamily="49" charset="0"/>
              </a:rPr>
              <a:t>;</a:t>
            </a:r>
            <a:endParaRPr lang="ro-RO" dirty="0">
              <a:latin typeface="Consolas" panose="020B0609020204030204" pitchFamily="49" charset="0"/>
            </a:endParaRPr>
          </a:p>
          <a:p>
            <a:r>
              <a:rPr lang="ro-RO" dirty="0">
                <a:solidFill>
                  <a:srgbClr val="FF0000">
                    <a:alpha val="60000"/>
                  </a:srgbClr>
                </a:solidFill>
              </a:rPr>
              <a:t>!!!Este important să fim conectați la o altă bază de date în momentul în care ștergem baza de date </a:t>
            </a:r>
            <a:r>
              <a:rPr lang="ro-RO" i="1" dirty="0">
                <a:solidFill>
                  <a:srgbClr val="FF0000">
                    <a:alpha val="60000"/>
                  </a:srgbClr>
                </a:solidFill>
              </a:rPr>
              <a:t>NoteFilme</a:t>
            </a:r>
            <a:r>
              <a:rPr lang="ro-RO" dirty="0">
                <a:solidFill>
                  <a:srgbClr val="FF0000">
                    <a:alpha val="60000"/>
                  </a:srgbClr>
                </a:solidFill>
              </a:rPr>
              <a:t> de pe server, în caz contrar va apărea o eroare și ștergerea acesteia va eșua</a:t>
            </a:r>
          </a:p>
        </p:txBody>
      </p:sp>
    </p:spTree>
    <p:extLst>
      <p:ext uri="{BB962C8B-B14F-4D97-AF65-F5344CB8AC3E}">
        <p14:creationId xmlns:p14="http://schemas.microsoft.com/office/powerpoint/2010/main" val="312642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9FDBA-E2B3-66A6-289E-46844D42CF6B}"/>
              </a:ext>
            </a:extLst>
          </p:cNvPr>
          <p:cNvSpPr>
            <a:spLocks noGrp="1"/>
          </p:cNvSpPr>
          <p:nvPr>
            <p:ph type="title"/>
          </p:nvPr>
        </p:nvSpPr>
        <p:spPr/>
        <p:txBody>
          <a:bodyPr/>
          <a:lstStyle/>
          <a:p>
            <a:r>
              <a:rPr lang="ro-RO" dirty="0">
                <a:latin typeface="+mn-lt"/>
              </a:rPr>
              <a:t>Problemă propusă</a:t>
            </a:r>
            <a:endParaRPr lang="ro-RO" dirty="0"/>
          </a:p>
        </p:txBody>
      </p:sp>
      <p:sp>
        <p:nvSpPr>
          <p:cNvPr id="3" name="Content Placeholder 2">
            <a:extLst>
              <a:ext uri="{FF2B5EF4-FFF2-40B4-BE49-F238E27FC236}">
                <a16:creationId xmlns:a16="http://schemas.microsoft.com/office/drawing/2014/main" id="{F6A85CC5-AB37-B15C-4831-BD6C70DA4C87}"/>
              </a:ext>
            </a:extLst>
          </p:cNvPr>
          <p:cNvSpPr>
            <a:spLocks noGrp="1"/>
          </p:cNvSpPr>
          <p:nvPr>
            <p:ph idx="1"/>
          </p:nvPr>
        </p:nvSpPr>
        <p:spPr>
          <a:xfrm>
            <a:off x="989400" y="1685925"/>
            <a:ext cx="10649225" cy="4972327"/>
          </a:xfrm>
        </p:spPr>
        <p:txBody>
          <a:bodyPr>
            <a:normAutofit/>
          </a:bodyPr>
          <a:lstStyle/>
          <a:p>
            <a:r>
              <a:rPr lang="ro-RO" sz="2400" dirty="0"/>
              <a:t>Să se creeze o bază de date care stochează informații despre un parc de distracții. Entitățile de interes pentru domeniul problemei sunt: </a:t>
            </a:r>
            <a:r>
              <a:rPr lang="ro-RO" sz="2400" b="1" dirty="0"/>
              <a:t>categorii de vizitatori</a:t>
            </a:r>
            <a:r>
              <a:rPr lang="ro-RO" sz="2400" dirty="0"/>
              <a:t>, </a:t>
            </a:r>
            <a:r>
              <a:rPr lang="ro-RO" sz="2400" b="1" dirty="0"/>
              <a:t>vizitatori</a:t>
            </a:r>
            <a:r>
              <a:rPr lang="ro-RO" sz="2400" dirty="0"/>
              <a:t>, </a:t>
            </a:r>
            <a:r>
              <a:rPr lang="ro-RO" sz="2400" b="1" dirty="0"/>
              <a:t>secțiuni</a:t>
            </a:r>
            <a:r>
              <a:rPr lang="ro-RO" sz="2400" dirty="0"/>
              <a:t> și </a:t>
            </a:r>
            <a:r>
              <a:rPr lang="ro-RO" sz="2400" b="1" dirty="0"/>
              <a:t>atracții</a:t>
            </a:r>
            <a:r>
              <a:rPr lang="ro-RO" sz="2400" dirty="0"/>
              <a:t>. Fiecare atracție din parcul de distracții are un </a:t>
            </a:r>
            <a:r>
              <a:rPr lang="ro-RO" sz="2400" b="1" dirty="0"/>
              <a:t>nume</a:t>
            </a:r>
            <a:r>
              <a:rPr lang="ro-RO" sz="2400" dirty="0"/>
              <a:t>, o </a:t>
            </a:r>
            <a:r>
              <a:rPr lang="ro-RO" sz="2400" b="1" dirty="0"/>
              <a:t>descriere</a:t>
            </a:r>
            <a:r>
              <a:rPr lang="ro-RO" sz="2400" dirty="0"/>
              <a:t>, o </a:t>
            </a:r>
            <a:r>
              <a:rPr lang="ro-RO" sz="2400" b="1" dirty="0"/>
              <a:t>vârstă minimă recomandată </a:t>
            </a:r>
            <a:r>
              <a:rPr lang="ro-RO" sz="2400" dirty="0"/>
              <a:t>și aparține unei singure secțiuni. Fiecare secțiune are un </a:t>
            </a:r>
            <a:r>
              <a:rPr lang="ro-RO" sz="2400" b="1" dirty="0"/>
              <a:t>nume</a:t>
            </a:r>
            <a:r>
              <a:rPr lang="ro-RO" sz="2400" dirty="0"/>
              <a:t> și o </a:t>
            </a:r>
            <a:r>
              <a:rPr lang="ro-RO" sz="2400" b="1" dirty="0"/>
              <a:t>descriere</a:t>
            </a:r>
            <a:r>
              <a:rPr lang="ro-RO" sz="2400" dirty="0"/>
              <a:t>. O secțiune poate conține mai multe atracții, dar fiecare atracție aparține unei singure secțiuni. Fiecare vizitator are un </a:t>
            </a:r>
            <a:r>
              <a:rPr lang="ro-RO" sz="2400" b="1" dirty="0"/>
              <a:t>nume</a:t>
            </a:r>
            <a:r>
              <a:rPr lang="ro-RO" sz="2400" dirty="0"/>
              <a:t>, o </a:t>
            </a:r>
            <a:r>
              <a:rPr lang="ro-RO" sz="2400" b="1" dirty="0"/>
              <a:t>adresă de email</a:t>
            </a:r>
            <a:r>
              <a:rPr lang="ro-RO" sz="2400" dirty="0"/>
              <a:t> și aparține unei singure categorii de vizitatori. Fiecare categorie de vizitatori are un </a:t>
            </a:r>
            <a:r>
              <a:rPr lang="ro-RO" sz="2400" b="1" dirty="0"/>
              <a:t>nume</a:t>
            </a:r>
            <a:r>
              <a:rPr lang="ro-RO" sz="2400" dirty="0"/>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p:txBody>
      </p:sp>
    </p:spTree>
    <p:extLst>
      <p:ext uri="{BB962C8B-B14F-4D97-AF65-F5344CB8AC3E}">
        <p14:creationId xmlns:p14="http://schemas.microsoft.com/office/powerpoint/2010/main" val="83733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CED1-BB77-B21A-9BE5-54CE767BF832}"/>
              </a:ext>
            </a:extLst>
          </p:cNvPr>
          <p:cNvSpPr>
            <a:spLocks noGrp="1"/>
          </p:cNvSpPr>
          <p:nvPr>
            <p:ph type="title"/>
          </p:nvPr>
        </p:nvSpPr>
        <p:spPr/>
        <p:txBody>
          <a:bodyPr/>
          <a:lstStyle/>
          <a:p>
            <a:r>
              <a:rPr lang="ro-RO" dirty="0">
                <a:latin typeface="+mn-lt"/>
              </a:rPr>
              <a:t>Bibliografie</a:t>
            </a:r>
          </a:p>
        </p:txBody>
      </p:sp>
      <p:sp>
        <p:nvSpPr>
          <p:cNvPr id="3" name="Content Placeholder 2">
            <a:extLst>
              <a:ext uri="{FF2B5EF4-FFF2-40B4-BE49-F238E27FC236}">
                <a16:creationId xmlns:a16="http://schemas.microsoft.com/office/drawing/2014/main" id="{B9161157-E6D7-C7E5-174B-D80F83E89457}"/>
              </a:ext>
            </a:extLst>
          </p:cNvPr>
          <p:cNvSpPr>
            <a:spLocks noGrp="1"/>
          </p:cNvSpPr>
          <p:nvPr>
            <p:ph idx="1"/>
          </p:nvPr>
        </p:nvSpPr>
        <p:spPr>
          <a:xfrm>
            <a:off x="989400" y="1685925"/>
            <a:ext cx="10738002" cy="5016716"/>
          </a:xfrm>
        </p:spPr>
        <p:txBody>
          <a:bodyPr>
            <a:normAutofit/>
          </a:bodyPr>
          <a:lstStyle/>
          <a:p>
            <a:r>
              <a:rPr lang="ro-RO" dirty="0">
                <a:hlinkClick r:id="rId2"/>
              </a:rPr>
              <a:t>https://learn.microsoft.com/en-us/sql/t-sql/statements/create-database-transact-sql?view=sql-server-ver16&amp;tabs=sqlpool</a:t>
            </a:r>
            <a:endParaRPr lang="ro-RO" dirty="0"/>
          </a:p>
          <a:p>
            <a:r>
              <a:rPr lang="ro-RO" dirty="0">
                <a:hlinkClick r:id="rId3"/>
              </a:rPr>
              <a:t>https://learn.microsoft.com/en-us/sql/t-sql/statements/alter-database-transact-sql?view=sql-server-ver16&amp;tabs=sqlpool</a:t>
            </a:r>
            <a:endParaRPr lang="ro-RO" dirty="0"/>
          </a:p>
          <a:p>
            <a:r>
              <a:rPr lang="ro-RO" dirty="0">
                <a:hlinkClick r:id="rId4"/>
              </a:rPr>
              <a:t>https://learn.microsoft.com/en-us/sql/t-sql/statements/drop-database-transact-sql?view=sql-server-ver16</a:t>
            </a:r>
            <a:endParaRPr lang="en-US" dirty="0"/>
          </a:p>
          <a:p>
            <a:r>
              <a:rPr lang="ro-RO" dirty="0">
                <a:hlinkClick r:id="rId5"/>
              </a:rPr>
              <a:t>https://learn.microsoft.com/en-us/sql/t-sql/statements/create-table-transact-sql?view=sql-server-ver16</a:t>
            </a:r>
            <a:endParaRPr lang="en-US" dirty="0"/>
          </a:p>
          <a:p>
            <a:r>
              <a:rPr lang="ro-RO" dirty="0">
                <a:hlinkClick r:id="rId6"/>
              </a:rPr>
              <a:t>https://learn.microsoft.com/en-us/sql/t-sql/statements/alter-table-transact-sql?view=sql-server-ver16</a:t>
            </a:r>
            <a:endParaRPr lang="en-US" dirty="0"/>
          </a:p>
          <a:p>
            <a:endParaRPr lang="ro-RO" dirty="0"/>
          </a:p>
        </p:txBody>
      </p:sp>
    </p:spTree>
    <p:extLst>
      <p:ext uri="{BB962C8B-B14F-4D97-AF65-F5344CB8AC3E}">
        <p14:creationId xmlns:p14="http://schemas.microsoft.com/office/powerpoint/2010/main" val="76129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CED1-BB77-B21A-9BE5-54CE767BF832}"/>
              </a:ext>
            </a:extLst>
          </p:cNvPr>
          <p:cNvSpPr>
            <a:spLocks noGrp="1"/>
          </p:cNvSpPr>
          <p:nvPr>
            <p:ph type="title"/>
          </p:nvPr>
        </p:nvSpPr>
        <p:spPr/>
        <p:txBody>
          <a:bodyPr/>
          <a:lstStyle/>
          <a:p>
            <a:r>
              <a:rPr lang="ro-RO" dirty="0">
                <a:latin typeface="+mn-lt"/>
              </a:rPr>
              <a:t>Bibliografie</a:t>
            </a:r>
          </a:p>
        </p:txBody>
      </p:sp>
      <p:sp>
        <p:nvSpPr>
          <p:cNvPr id="3" name="Content Placeholder 2">
            <a:extLst>
              <a:ext uri="{FF2B5EF4-FFF2-40B4-BE49-F238E27FC236}">
                <a16:creationId xmlns:a16="http://schemas.microsoft.com/office/drawing/2014/main" id="{B9161157-E6D7-C7E5-174B-D80F83E89457}"/>
              </a:ext>
            </a:extLst>
          </p:cNvPr>
          <p:cNvSpPr>
            <a:spLocks noGrp="1"/>
          </p:cNvSpPr>
          <p:nvPr>
            <p:ph idx="1"/>
          </p:nvPr>
        </p:nvSpPr>
        <p:spPr>
          <a:xfrm>
            <a:off x="989400" y="1685925"/>
            <a:ext cx="10738002" cy="5016716"/>
          </a:xfrm>
        </p:spPr>
        <p:txBody>
          <a:bodyPr/>
          <a:lstStyle/>
          <a:p>
            <a:r>
              <a:rPr lang="ro-RO" dirty="0">
                <a:hlinkClick r:id="rId2"/>
              </a:rPr>
              <a:t>https://learn.microsoft.com/en-us/sql/t-sql/statements/drop-table-transact-sql?view=sql-server-ver16</a:t>
            </a:r>
            <a:endParaRPr lang="en-US" dirty="0"/>
          </a:p>
          <a:p>
            <a:r>
              <a:rPr lang="ro-RO" dirty="0">
                <a:hlinkClick r:id="rId3"/>
              </a:rPr>
              <a:t>https://learn.microsoft.com/en-us/sql/relational-databases/tables/primary-and-foreign-key-constraints?view=sql-server-ver16</a:t>
            </a:r>
            <a:endParaRPr lang="en-US" dirty="0"/>
          </a:p>
          <a:p>
            <a:r>
              <a:rPr lang="ro-RO" dirty="0">
                <a:hlinkClick r:id="rId4"/>
              </a:rPr>
              <a:t>https://learn.microsoft.com/en-us/sql/relational-databases/tables/unique-constraints-and-check-constraints?view=sql-server-ver16</a:t>
            </a:r>
            <a:endParaRPr lang="en-US" dirty="0"/>
          </a:p>
          <a:p>
            <a:r>
              <a:rPr lang="ro-RO" dirty="0">
                <a:hlinkClick r:id="rId5"/>
              </a:rPr>
              <a:t>https://learn.microsoft.com/en-us/sql/relational-databases/tables/specify-default-values-for-columns?view=sql-server-ver16</a:t>
            </a:r>
            <a:endParaRPr lang="en-US" dirty="0"/>
          </a:p>
          <a:p>
            <a:endParaRPr lang="ro-RO" dirty="0"/>
          </a:p>
        </p:txBody>
      </p:sp>
    </p:spTree>
    <p:extLst>
      <p:ext uri="{BB962C8B-B14F-4D97-AF65-F5344CB8AC3E}">
        <p14:creationId xmlns:p14="http://schemas.microsoft.com/office/powerpoint/2010/main" val="3450374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B86EF2FAFBD148B4BD32CD895E1E9B" ma:contentTypeVersion="0" ma:contentTypeDescription="Create a new document." ma:contentTypeScope="" ma:versionID="190f1285a86d130aa240bed74f2e1279">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6099D7-FB28-4461-9528-06AF32B5D66B}"/>
</file>

<file path=customXml/itemProps2.xml><?xml version="1.0" encoding="utf-8"?>
<ds:datastoreItem xmlns:ds="http://schemas.openxmlformats.org/officeDocument/2006/customXml" ds:itemID="{40654819-0EE5-4A8B-88D6-6C0E0E1AB54F}"/>
</file>

<file path=customXml/itemProps3.xml><?xml version="1.0" encoding="utf-8"?>
<ds:datastoreItem xmlns:ds="http://schemas.openxmlformats.org/officeDocument/2006/customXml" ds:itemID="{2ABBFF3E-20EA-4174-9977-D82AF09B24FE}"/>
</file>

<file path=docProps/app.xml><?xml version="1.0" encoding="utf-8"?>
<Properties xmlns="http://schemas.openxmlformats.org/officeDocument/2006/extended-properties" xmlns:vt="http://schemas.openxmlformats.org/officeDocument/2006/docPropsVTypes">
  <Template>Prezentare cu pictură Ocean (ecran lat)</Template>
  <TotalTime>235</TotalTime>
  <Words>2481</Words>
  <Application>Microsoft Office PowerPoint</Application>
  <PresentationFormat>Widescreen</PresentationFormat>
  <Paragraphs>211</Paragraphs>
  <Slides>31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Consolas</vt:lpstr>
      <vt:lpstr>Georgia</vt:lpstr>
      <vt:lpstr>Ocean 16x9</vt:lpstr>
      <vt:lpstr>SQL DDL: Limbaj de definire a datelor</vt:lpstr>
      <vt:lpstr>Limbajul SQL: DDL</vt:lpstr>
      <vt:lpstr>Problemă</vt:lpstr>
      <vt:lpstr>Rezolvare: diagrama bazei de date relaționale</vt:lpstr>
      <vt:lpstr>Rezolvare: Cod Transact-SQL</vt:lpstr>
      <vt:lpstr>Rezolvare: Cod Transact-SQL</vt:lpstr>
      <vt:lpstr>Rezolvare: Cod Transact-SQL</vt:lpstr>
      <vt:lpstr>Rezolvare: Cod Transact-SQL</vt:lpstr>
      <vt:lpstr>Observații</vt:lpstr>
      <vt:lpstr>Observații</vt:lpstr>
      <vt:lpstr>Rezolvare: Cod Transact-SQL</vt:lpstr>
      <vt:lpstr>Rezolvare: Cod Transact-SQL</vt:lpstr>
      <vt:lpstr>Rezolvare: Cod Transact-SQL</vt:lpstr>
      <vt:lpstr>Observații</vt:lpstr>
      <vt:lpstr>Observații</vt:lpstr>
      <vt:lpstr>Rezolvare: Cod Transact-SQL</vt:lpstr>
      <vt:lpstr>Rezolvare: Cod Transact-SQL</vt:lpstr>
      <vt:lpstr>Rezolvare: Cod Transact-SQL</vt:lpstr>
      <vt:lpstr>Rezolvare: Cod Transact-SQL</vt:lpstr>
      <vt:lpstr>Observații</vt:lpstr>
      <vt:lpstr>Modificări la nivelul structurii bazei de date</vt:lpstr>
      <vt:lpstr>Modificări la nivelul structurii bazei de date</vt:lpstr>
      <vt:lpstr>Modificări la nivelul structurii bazei de date</vt:lpstr>
      <vt:lpstr>Modificări la nivelul structurii bazei de date</vt:lpstr>
      <vt:lpstr>Modificări la nivelul structurii bazei de date</vt:lpstr>
      <vt:lpstr>Modificări la nivelul structurii bazei de date</vt:lpstr>
      <vt:lpstr>Ștergerea unui tabel din baza de date</vt:lpstr>
      <vt:lpstr>Ștergerea bazei de date</vt:lpstr>
      <vt:lpstr>Problemă propusă</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DDL: Limbaj de definire a datelor</dc:title>
  <dc:creator>Camelia Andor</dc:creator>
  <cp:lastModifiedBy>Camelia Andor</cp:lastModifiedBy>
  <cp:revision>25</cp:revision>
  <dcterms:created xsi:type="dcterms:W3CDTF">2023-09-17T20:41:51Z</dcterms:created>
  <dcterms:modified xsi:type="dcterms:W3CDTF">2023-09-25T18:40:46Z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0x010100C0B86EF2FAFBD148B4BD32CD895E1E9B</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