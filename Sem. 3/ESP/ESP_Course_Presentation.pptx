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55" autoAdjust="0"/>
    <p:restoredTop sz="94660"/>
  </p:normalViewPr>
  <p:slideViewPr>
    <p:cSldViewPr snapToGrid="0" snapToObjects="1">
      <p:cViewPr>
        <p:scale>
          <a:sx n="80" d="100"/>
          <a:sy n="80" d="100"/>
        </p:scale>
        <p:origin x="1546" y="-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in ESP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" y="1417638"/>
            <a:ext cx="8229600" cy="4525963"/>
          </a:xfrm>
        </p:spPr>
        <p:txBody>
          <a:bodyPr/>
          <a:lstStyle/>
          <a:p>
            <a:r>
              <a:rPr dirty="0"/>
              <a:t>Overview of English for Specific Purposes (ESP).</a:t>
            </a:r>
          </a:p>
          <a:p>
            <a:r>
              <a:rPr dirty="0"/>
              <a:t>Definition and scope</a:t>
            </a:r>
          </a:p>
          <a:p>
            <a:r>
              <a:rPr dirty="0"/>
              <a:t>Importance in academic and professional contexts</a:t>
            </a:r>
          </a:p>
          <a:p>
            <a:r>
              <a:rPr dirty="0"/>
              <a:t> ESP vs General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This course introduces students to the principles and practices of ESP.</a:t>
            </a:r>
            <a:endParaRPr lang="en-US" dirty="0"/>
          </a:p>
          <a:p>
            <a:r>
              <a:rPr lang="en-US" dirty="0"/>
              <a:t>Designed for students in technical and professional domains. </a:t>
            </a:r>
          </a:p>
          <a:p>
            <a:r>
              <a:rPr lang="en-US" dirty="0"/>
              <a:t>Combines theory (language and communication strategies) with practice (tasks, case studies, projects).</a:t>
            </a:r>
          </a:p>
          <a:p>
            <a:r>
              <a:rPr lang="en-US" dirty="0"/>
              <a:t>Emphasis on reading, writing, listening, and speaking in specialized contexts. </a:t>
            </a:r>
          </a:p>
          <a:p>
            <a:r>
              <a:rPr lang="en-US" dirty="0"/>
              <a:t>Prepares students for academic research and workplace communication.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4C8B1-A2F9-4F9B-A57C-15D4114AF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English for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C8839-09C8-46DA-A3EC-4BF5216C3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English for Programming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Focus</a:t>
            </a:r>
            <a:r>
              <a:rPr lang="en-US" dirty="0"/>
              <a:t>: language skills needed in computer science and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vocabulary</a:t>
            </a:r>
            <a:r>
              <a:rPr lang="en-US" dirty="0"/>
              <a:t>: algorithms, debugging, frameworks, APIs, syntax.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Reading skills</a:t>
            </a:r>
            <a:r>
              <a:rPr lang="en-US" dirty="0"/>
              <a:t>: understanding documentation, manuals, code comments.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Writing skills</a:t>
            </a:r>
            <a:r>
              <a:rPr lang="en-US" dirty="0"/>
              <a:t>: producing technical reports, documenting code, writing README 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Speaking/Listening</a:t>
            </a:r>
            <a:r>
              <a:rPr lang="en-US" dirty="0"/>
              <a:t>: collaborating in teams, explaining solutions, presenting projects.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Cultural skills</a:t>
            </a:r>
            <a:r>
              <a:rPr lang="en-US" dirty="0"/>
              <a:t>: communicating in international IT environments (clarity, brevity, precision).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147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Academic Writing</a:t>
            </a:r>
            <a:r>
              <a:rPr lang="en-US" dirty="0"/>
              <a:t> &amp; Linguistic Test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dirty="0"/>
              <a:t>Key skills in academic writing:</a:t>
            </a:r>
          </a:p>
          <a:p>
            <a:r>
              <a:rPr dirty="0"/>
              <a:t> Structure and organization</a:t>
            </a:r>
          </a:p>
          <a:p>
            <a:r>
              <a:rPr dirty="0"/>
              <a:t> Clarity and conciseness</a:t>
            </a:r>
          </a:p>
          <a:p>
            <a:r>
              <a:rPr dirty="0"/>
              <a:t> Referencing and citation styles (APA, MLA)</a:t>
            </a:r>
          </a:p>
          <a:p>
            <a:r>
              <a:rPr dirty="0"/>
              <a:t> </a:t>
            </a:r>
            <a:r>
              <a:rPr lang="en-US" dirty="0"/>
              <a:t>CEFR levels: A1, A2, B1, B2, C1, C2</a:t>
            </a:r>
          </a:p>
          <a:p>
            <a:r>
              <a:rPr lang="en-US" dirty="0"/>
              <a:t>Second semester (compulsory, sine qua non condition for BA, Ma)</a:t>
            </a:r>
          </a:p>
          <a:p>
            <a:r>
              <a:rPr lang="en-US" dirty="0"/>
              <a:t>Cambridge certificates can be recognized ( on basis of a document dossier comprising of official recognition request letter &amp; an official copy of your diploma)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Compulsory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Students are required to:</a:t>
            </a:r>
          </a:p>
          <a:p>
            <a:r>
              <a:rPr dirty="0"/>
              <a:t> </a:t>
            </a:r>
            <a:r>
              <a:rPr dirty="0">
                <a:solidFill>
                  <a:srgbClr val="FF0000"/>
                </a:solidFill>
                <a:highlight>
                  <a:srgbClr val="C0C0C0"/>
                </a:highlight>
              </a:rPr>
              <a:t>Attend </a:t>
            </a:r>
            <a:r>
              <a:rPr lang="en-US" dirty="0">
                <a:solidFill>
                  <a:srgbClr val="FF0000"/>
                </a:solidFill>
                <a:highlight>
                  <a:srgbClr val="C0C0C0"/>
                </a:highlight>
              </a:rPr>
              <a:t>3 courses </a:t>
            </a:r>
            <a:r>
              <a:rPr lang="en-US" dirty="0"/>
              <a:t>(which are to be announced 1 week before on Teams) + </a:t>
            </a:r>
            <a:r>
              <a:rPr lang="en-US" dirty="0">
                <a:highlight>
                  <a:srgbClr val="C0C0C0"/>
                </a:highlight>
              </a:rPr>
              <a:t>1 presentation </a:t>
            </a:r>
            <a:endParaRPr dirty="0">
              <a:highlight>
                <a:srgbClr val="C0C0C0"/>
              </a:highlight>
            </a:endParaRPr>
          </a:p>
          <a:p>
            <a:r>
              <a:rPr dirty="0"/>
              <a:t>Complete all assignments and projects</a:t>
            </a:r>
          </a:p>
          <a:p>
            <a:r>
              <a:rPr dirty="0"/>
              <a:t>Participate in discussions and presentations</a:t>
            </a:r>
            <a:r>
              <a:rPr lang="en-US" dirty="0"/>
              <a:t> in the compulsory meetings</a:t>
            </a:r>
            <a:endParaRPr dirty="0"/>
          </a:p>
          <a:p>
            <a:r>
              <a:rPr dirty="0"/>
              <a:t>Pass the final assessment</a:t>
            </a:r>
            <a:r>
              <a:rPr lang="en-US" dirty="0"/>
              <a:t> (1</a:t>
            </a:r>
            <a:r>
              <a:rPr lang="en-US" baseline="30000" dirty="0"/>
              <a:t>st</a:t>
            </a:r>
            <a:r>
              <a:rPr lang="en-US" dirty="0"/>
              <a:t> semester presentation + a quiz, 2</a:t>
            </a:r>
            <a:r>
              <a:rPr lang="en-US" baseline="30000" dirty="0"/>
              <a:t>nd</a:t>
            </a:r>
            <a:r>
              <a:rPr lang="en-US" dirty="0"/>
              <a:t> semester Linguistic Test)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81C37-1FA8-438E-8924-E3FB5926A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98E41-5D21-431E-928D-1F7CDA584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Computer Science code: </a:t>
            </a:r>
            <a:r>
              <a:rPr lang="en-US" b="1" dirty="0" err="1"/>
              <a:t>tkfjtjy</a:t>
            </a:r>
            <a:endParaRPr lang="en-US" b="1" dirty="0"/>
          </a:p>
          <a:p>
            <a:r>
              <a:rPr lang="en-US" dirty="0"/>
              <a:t>Artificial Intelligence code: </a:t>
            </a:r>
            <a:r>
              <a:rPr lang="en-US" b="1" dirty="0"/>
              <a:t>ymf0c6x</a:t>
            </a:r>
          </a:p>
          <a:p>
            <a:r>
              <a:rPr lang="en-US" b="1" dirty="0"/>
              <a:t>Staying Connected on Teams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📂 </a:t>
            </a:r>
            <a:r>
              <a:rPr lang="en-US" b="1" dirty="0"/>
              <a:t>All course materials</a:t>
            </a:r>
            <a:r>
              <a:rPr lang="en-US" dirty="0"/>
              <a:t> (slides, readings, assignments) will be uploaded on </a:t>
            </a:r>
            <a:r>
              <a:rPr lang="en-US" b="1" dirty="0"/>
              <a:t>Microsoft Teams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Please </a:t>
            </a:r>
            <a:r>
              <a:rPr lang="en-US" b="1" dirty="0"/>
              <a:t>check Teams regularly</a:t>
            </a:r>
            <a:r>
              <a:rPr lang="en-US" dirty="0"/>
              <a:t> for updates, announcements, and new resources.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💬 Use Teams to </a:t>
            </a:r>
            <a:r>
              <a:rPr lang="en-US" b="1" dirty="0"/>
              <a:t>ask questions, share ideas, and stay in touch</a:t>
            </a:r>
            <a:r>
              <a:rPr lang="en-US" dirty="0"/>
              <a:t> with the lecturer and colleagues.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📝 </a:t>
            </a:r>
            <a:r>
              <a:rPr lang="en-US" b="1" dirty="0"/>
              <a:t>All assignments and projects</a:t>
            </a:r>
            <a:r>
              <a:rPr lang="en-US" dirty="0"/>
              <a:t> must be submitted through Teams.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🤝 Teams is our </a:t>
            </a:r>
            <a:r>
              <a:rPr lang="en-US" b="1" dirty="0"/>
              <a:t>main communication hub</a:t>
            </a:r>
            <a:r>
              <a:rPr lang="en-US" dirty="0"/>
              <a:t> – let’s keep in touch there at all times!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</a:rPr>
              <a:t>COMPULSORY TASK: PLACEMENT TEST!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45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20B46700397A4DBF91D56B470C4CA8" ma:contentTypeVersion="9" ma:contentTypeDescription="Create a new document." ma:contentTypeScope="" ma:versionID="aacf963f7375f5aabed1e1c72d2e928b">
  <xsd:schema xmlns:xsd="http://www.w3.org/2001/XMLSchema" xmlns:xs="http://www.w3.org/2001/XMLSchema" xmlns:p="http://schemas.microsoft.com/office/2006/metadata/properties" xmlns:ns2="e05f4d34-4e91-4a87-958f-a9bf58b1902c" xmlns:ns3="76a2b960-c659-40a8-b5df-42aa168d0ea9" targetNamespace="http://schemas.microsoft.com/office/2006/metadata/properties" ma:root="true" ma:fieldsID="1251bf6e77bac3e82558d7e69fea7e85" ns2:_="" ns3:_="">
    <xsd:import namespace="e05f4d34-4e91-4a87-958f-a9bf58b1902c"/>
    <xsd:import namespace="76a2b960-c659-40a8-b5df-42aa168d0e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f4d34-4e91-4a87-958f-a9bf58b190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a2b960-c659-40a8-b5df-42aa168d0e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4e22128-1268-4e5c-8368-7cf59888aa9f}" ma:internalName="TaxCatchAll" ma:showField="CatchAllData" ma:web="76a2b960-c659-40a8-b5df-42aa168d0e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6a2b960-c659-40a8-b5df-42aa168d0ea9" xsi:nil="true"/>
    <lcf76f155ced4ddcb4097134ff3c332f xmlns="e05f4d34-4e91-4a87-958f-a9bf58b1902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1729592-848E-4ADB-A62C-BBA5D53C014A}"/>
</file>

<file path=customXml/itemProps2.xml><?xml version="1.0" encoding="utf-8"?>
<ds:datastoreItem xmlns:ds="http://schemas.openxmlformats.org/officeDocument/2006/customXml" ds:itemID="{48631062-3A33-40BF-BA38-B4F2045FB96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A3FE88D-D1C4-4753-BB67-CB7374F14F1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416</Words>
  <Application>Microsoft Office PowerPoint</Application>
  <PresentationFormat>On-screen Show (4:3)</PresentationFormat>
  <Paragraphs>43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Introduction in ESP</vt:lpstr>
      <vt:lpstr>Course Description</vt:lpstr>
      <vt:lpstr>English for IT</vt:lpstr>
      <vt:lpstr>Academic Writing &amp; Linguistic Test</vt:lpstr>
      <vt:lpstr>Compulsory Requirements</vt:lpstr>
      <vt:lpstr>Teams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in ESP</dc:title>
  <dc:subject/>
  <dc:creator/>
  <cp:keywords/>
  <dc:description>generated using python-pptx</dc:description>
  <cp:lastModifiedBy>Raluca Z. Sandu</cp:lastModifiedBy>
  <cp:revision>10</cp:revision>
  <dcterms:created xsi:type="dcterms:W3CDTF">2013-01-27T09:14:16Z</dcterms:created>
  <dcterms:modified xsi:type="dcterms:W3CDTF">2025-10-08T09:59:01Z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0x0101004120B46700397A4DBF91D56B470C4CA8</vt:lpwstr>
  </property>
</Properties>
</file>